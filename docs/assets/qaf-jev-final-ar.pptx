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0747ec2a5e4edf" /><Relationship Type="http://schemas.openxmlformats.org/officeDocument/2006/relationships/extended-properties" Target="/docProps/app.xml" Id="Rd26db7e9b39e4fe7" /><Relationship Type="http://schemas.openxmlformats.org/officeDocument/2006/relationships/officeDocument" Target="/ppt/presentation.xml" Id="R75f033f8849e4387" /></Relationships>
</file>

<file path=ppt/presentation.xml><?xml version="1.0" encoding="utf-8"?>
<p:presentation xmlns:p="http://schemas.openxmlformats.org/presentationml/2006/main">
  <p:sldMasterIdLst>
    <p:sldMasterId xmlns:r="http://schemas.openxmlformats.org/officeDocument/2006/relationships" id="2147483648" r:id="Rbf1056ed6fa148b2"/>
  </p:sldMasterIdLst>
  <p:notesMasterIdLst>
    <p:notesMasterId xmlns:r="http://schemas.openxmlformats.org/officeDocument/2006/relationships" r:id="R036eddb9e5fd45c6"/>
  </p:notesMasterIdLst>
  <p:sldIdLst>
    <p:sldId xmlns:r="http://schemas.openxmlformats.org/officeDocument/2006/relationships" id="256" r:id="R01265973340d4f56"/>
    <p:sldId xmlns:r="http://schemas.openxmlformats.org/officeDocument/2006/relationships" id="257" r:id="R69dd630bcde74e91"/>
    <p:sldId xmlns:r="http://schemas.openxmlformats.org/officeDocument/2006/relationships" id="258" r:id="Rc1fb06fdb47c4f62"/>
    <p:sldId xmlns:r="http://schemas.openxmlformats.org/officeDocument/2006/relationships" id="259" r:id="Rffa9592fb4bd4750"/>
    <p:sldId xmlns:r="http://schemas.openxmlformats.org/officeDocument/2006/relationships" id="260" r:id="R81ac4d4eabad4b4b"/>
    <p:sldId xmlns:r="http://schemas.openxmlformats.org/officeDocument/2006/relationships" id="261" r:id="R7a2aa1118b5a423d"/>
    <p:sldId xmlns:r="http://schemas.openxmlformats.org/officeDocument/2006/relationships" id="262" r:id="R97d1e13bfbea47c8"/>
    <p:sldId xmlns:r="http://schemas.openxmlformats.org/officeDocument/2006/relationships" id="263" r:id="R007dc39c848841b1"/>
    <p:sldId xmlns:r="http://schemas.openxmlformats.org/officeDocument/2006/relationships" id="264" r:id="R32c681a1007d4676"/>
    <p:sldId xmlns:r="http://schemas.openxmlformats.org/officeDocument/2006/relationships" id="265" r:id="Rd2550292fa994a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476c3843714c89" /><Relationship Type="http://schemas.openxmlformats.org/officeDocument/2006/relationships/slideMaster" Target="/ppt/slideMasters/slideMaster1.xml" Id="Rbf1056ed6fa148b2" /><Relationship Type="http://schemas.openxmlformats.org/officeDocument/2006/relationships/notesMaster" Target="/ppt/notesMasters/notesMaster1.xml" Id="R036eddb9e5fd45c6" /><Relationship Type="http://schemas.openxmlformats.org/officeDocument/2006/relationships/presProps" Target="/ppt/presProps.xml" Id="Re7476e15c249451a" /><Relationship Type="http://schemas.openxmlformats.org/officeDocument/2006/relationships/tableStyles" Target="/ppt/tableStyles.xml" Id="R37e460c108a140b2" /><Relationship Type="http://schemas.openxmlformats.org/officeDocument/2006/relationships/slide" Target="/ppt/slides/slide1.xml" Id="R01265973340d4f56" /><Relationship Type="http://schemas.openxmlformats.org/officeDocument/2006/relationships/slide" Target="/ppt/slides/slide2.xml" Id="R69dd630bcde74e91" /><Relationship Type="http://schemas.openxmlformats.org/officeDocument/2006/relationships/slide" Target="/ppt/slides/slide3.xml" Id="Rc1fb06fdb47c4f62" /><Relationship Type="http://schemas.openxmlformats.org/officeDocument/2006/relationships/slide" Target="/ppt/slides/slide4.xml" Id="Rffa9592fb4bd4750" /><Relationship Type="http://schemas.openxmlformats.org/officeDocument/2006/relationships/slide" Target="/ppt/slides/slide5.xml" Id="R81ac4d4eabad4b4b" /><Relationship Type="http://schemas.openxmlformats.org/officeDocument/2006/relationships/slide" Target="/ppt/slides/slide6.xml" Id="R7a2aa1118b5a423d" /><Relationship Type="http://schemas.openxmlformats.org/officeDocument/2006/relationships/slide" Target="/ppt/slides/slide7.xml" Id="R97d1e13bfbea47c8" /><Relationship Type="http://schemas.openxmlformats.org/officeDocument/2006/relationships/slide" Target="/ppt/slides/slide8.xml" Id="R007dc39c848841b1" /><Relationship Type="http://schemas.openxmlformats.org/officeDocument/2006/relationships/slide" Target="/ppt/slides/slide9.xml" Id="R32c681a1007d4676" /><Relationship Type="http://schemas.openxmlformats.org/officeDocument/2006/relationships/slide" Target="/ppt/slides/slide10.xml" Id="Rd2550292fa994a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4dcfa738f246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85e4d49aa24098" /><Relationship Type="http://schemas.openxmlformats.org/officeDocument/2006/relationships/notesMaster" Target="/ppt/notesMasters/notesMaster1.xml" Id="R7f8287fe655d4c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81f5159de34386" /><Relationship Type="http://schemas.openxmlformats.org/officeDocument/2006/relationships/notesMaster" Target="/ppt/notesMasters/notesMaster1.xml" Id="Rac0be9c81dad48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c5b05b773c4c2a" /><Relationship Type="http://schemas.openxmlformats.org/officeDocument/2006/relationships/notesMaster" Target="/ppt/notesMasters/notesMaster1.xml" Id="Re139046e7fdb49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3da4daa9f54ac9" /><Relationship Type="http://schemas.openxmlformats.org/officeDocument/2006/relationships/notesMaster" Target="/ppt/notesMasters/notesMaster1.xml" Id="Rbd2072c44b894e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201a9f68964fbf" /><Relationship Type="http://schemas.openxmlformats.org/officeDocument/2006/relationships/notesMaster" Target="/ppt/notesMasters/notesMaster1.xml" Id="R7012c93a5ef648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21053028e94d26" /><Relationship Type="http://schemas.openxmlformats.org/officeDocument/2006/relationships/notesMaster" Target="/ppt/notesMasters/notesMaster1.xml" Id="R8491b47e17f24c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e64ec0fc63438b" /><Relationship Type="http://schemas.openxmlformats.org/officeDocument/2006/relationships/notesMaster" Target="/ppt/notesMasters/notesMaster1.xml" Id="R989c1b1bab664f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39b26889b04f7c" /><Relationship Type="http://schemas.openxmlformats.org/officeDocument/2006/relationships/notesMaster" Target="/ppt/notesMasters/notesMaster1.xml" Id="R4062d40b5a7f48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a9209362524365" /><Relationship Type="http://schemas.openxmlformats.org/officeDocument/2006/relationships/notesMaster" Target="/ppt/notesMasters/notesMaster1.xml" Id="Rf0325abb55274e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39abe4a41140db" /><Relationship Type="http://schemas.openxmlformats.org/officeDocument/2006/relationships/notesMaster" Target="/ppt/notesMasters/notesMaster1.xml" Id="R0dc7e2db056f42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قاف مشروع قائم. هذا العرض يشرح تجربة Jev البحثية السابقة ونسخة عرض مرجعية مستقلة للمشاركة الفردية باسم عبد اللطيف عبد الفتاح. دراسة Qaf AI المرجعية المنشورة بتاريخ ١٧ سبتمبر ٢٠٢٦. المقارنة الرئيسة: jev_v4w مقابل current، ٤٨ سؤالًا أوليًا. هذه دراسة سابقة للتحدي وليست اختبارًا لنسخة العرض المرجعية الجديدة. https://qaf-jev-v4-vs-prod.pages.dev/#arch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المصدر: https://qaf.ai . وصف المنتج القائم والاحتياج المعرفي. لا يقدم هذا العرض دراسة سوق أو أرقامًا عن رضا المستخدمين.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دراسة Qaf AI المرجعية المنشورة بتاريخ ١٧ سبتمبر ٢٠٢٦. المقارنة الرئيسة: jev_v4w مقابل current، ٤٨ سؤالًا أوليًا. هذه دراسة سابقة للتحدي وليست اختبارًا لنسخة العرض المرجعية الجديدة. https://qaf-jev-v4-vs-prod.pages.dev/#arch</a:t>
            </a:r>
          </a:p>
          <a:p xmlns:a="http://schemas.openxmlformats.org/drawingml/2006/main">
            <a:r>
              <a:t>القيم التقريبية متوسطات الإعداد jev_v4w. Jev يصنف السؤال ويقدر صلة نحو ١٣٧٫٧٧ مقطعًا. الشفرة تختصر أوليًا إلى ٢٤ مقطعًا، ثم يكتب Gemini من حزمة بمتوسط ٢٢٫٧١ مقطعًا. لا يعني ذلك أن نموذج Jev نفسه يكتب الإجابة.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دراسة Qaf AI المرجعية المنشورة بتاريخ ١٧ سبتمبر ٢٠٢٦. المقارنة الرئيسة: jev_v4w مقابل current، ٤٨ سؤالًا أوليًا. هذه دراسة سابقة للتحدي وليست اختبارًا لنسخة العرض المرجعية الجديدة. https://qaf-jev-v4-vs-prod.pages.dev/#grounding</a:t>
            </a:r>
          </a:p>
          <a:p xmlns:a="http://schemas.openxmlformats.org/drawingml/2006/main">
            <a:r>
              <a:t>Gemini cites numbered passages. Code maps valid numbers back to chunk IDs and drops unmatched numbers. Dropped numbers were not counted in the published zero-invented-ID result. Semantic support and attribution may still fail.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دراسة Qaf AI المرجعية المنشورة بتاريخ ١٧ سبتمبر ٢٠٢٦. المقارنة الرئيسة: jev_v4w مقابل current، ٤٨ سؤالًا أوليًا. هذه دراسة سابقة للتحدي وليست اختبارًا لنسخة العرض المرجعية الجديدة. https://qaf-jev-v4-vs-prod.pages.dev/#method</a:t>
            </a:r>
          </a:p>
          <a:p xmlns:a="http://schemas.openxmlformats.org/drawingml/2006/main">
            <a:r>
              <a:t>٤٢ سؤالًا بالعربية و٦ بالفارسية أو الأردية، من أسئلة أول دور في الاستخدام بين ٧ و١٤ سبتمبر ٢٠٢٦. ٣٣ ضبط لغة واجهة عربية و١٥ إنجليزية لا يمثلان لغة الأسئلة. المقارنة بتشغيلات مكررة من حاسوب محمول على شبكة مشتركة. لا توجد إعادة مستقلة للتجربة، ولا مراجعة بشرية علمية موثقة. لا يعرض هذا الملف أسئلة المستخدمين أو أجوبتهم.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دراسة Qaf AI المرجعية المنشورة بتاريخ ١٧ سبتمبر ٢٠٢٦. المقارنة الرئيسة: jev_v4w مقابل current، ٤٨ سؤالًا أوليًا. هذه دراسة سابقة للتحدي وليست اختبارًا لنسخة العرض المرجعية الجديدة. https://qaf-jev-v4-vs-prod.pages.dev/#cost</a:t>
            </a:r>
          </a:p>
          <a:p xmlns:a="http://schemas.openxmlformats.org/drawingml/2006/main">
            <a:r>
              <a:t>متوسط الكلفة لكل سؤال بالدولار: current 0.04195861458، jev_v4w 0.02511465425. أسعار القائمة، مع استبعاد embeddings المتطابقة بين الطرفين. نسبة الخفض المحسوبة 40.1442%. الزمن من #latency: median first answer text 13.049 مقابل9.647 sec؛ median complete answer26.426 مقابل14.958sec. زمن بدء النص ليس أول حدث حالة يُبث.</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دراسة Qaf AI المرجعية المنشورة بتاريخ ١٧ سبتمبر ٢٠٢٦. المقارنة الرئيسة: jev_v4w مقابل current، ٤٨ سؤالًا أوليًا. هذه دراسة سابقة للتحدي وليست اختبارًا لنسخة العرض المرجعية الجديدة. https://qaf-jev-v4-vs-prod.pages.dev/#quality</a:t>
            </a:r>
          </a:p>
          <a:p xmlns:a="http://schemas.openxmlformats.org/drawingml/2006/main">
            <a:r>
              <a:t>20 left wins,16 right wins,12 undecided. Decided winrate20/36=.555556;95% Wilson interval.396- .705. No superiority proven. Control compares production replay with itself and returns about55%. All quality judges are LLMs; length bias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دراسة Qaf AI المرجعية المنشورة بتاريخ ١٧ سبتمبر ٢٠٢٦. المقارنة الرئيسة: jev_v4w مقابل current، ٤٨ سؤالًا أوليًا. هذه دراسة سابقة للتحدي وليست اختبارًا لنسخة العرض المرجعية الجديدة. https://qaf-jev-v4-vs-prod.pages.dev/#grounding</a:t>
            </a:r>
          </a:p>
          <a:p xmlns:a="http://schemas.openxmlformats.org/drawingml/2006/main">
            <a:r>
              <a:t>18 answers per arm, up to12 claims each. Jev163 audited claims,83.44% supported; current175,77.71%supported. Both6/18 serious-error answers. Invented citation IDs0/48Jev vs4/48current; dropped unmatched numbers not counted. Auditors are LLMs. These numbers neither establish zero hallucinations nor scholarly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مصدر النسخة المرجعية المستقلة: https://github.com/tifa2UP/qaf-jev-challenge . ملفات demo/data.mjs وdemo/engine.mjs وdemo/README.md. ستة مقاطع أصلية تعليمية مصطنعة وأربع حالات عرض. محاكاة حتمية معلنة لا تستدعي أي نموذج لغوي، مع حصر معرّفات الإحالات في مجموعة مسموحة. نجح١٢اختبارًا:٧اختبارات للمنطق و٥اختبارات لعقد مزود الخدمة باستخدام بديل وهمي. محوّلJev الاختياري يعمل منالخادم ولم يُختبر بطلب حي. لا تتضمن شفرة قاف الخاصة أو بيانات مستخدمين أو اقتباسات من المكتبة الأصلية. هذه النسخة لا تنشر إعدادv4 المقاس في دراسةسبتمبر.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مشاركة فردية: Abdellatif Abdelfattah، عبد اللطيف عبد الفتاح. المستودع المستقل الجديد: https://github.com/tifa2UP/qaf-jev-challenge . واجهة المراجعة: https://tifa2up.github.io/qaf-jev-challenge/ . قاف منتج قائم: https://qaf.ai . دراسة Jev المرجعية بتاريخ١٧ سبتمبر٢٠٢٦. الشفرة المرجعية والأمثلة والعرض والفيديو مواد مستقلة جديدة في٦أكتوبر٢٠٢٦. لا يدعي هذا العرض نشرv4 فيqaf.ai.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4e1ccecc5a49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faf3fedb334121" /><Relationship Type="http://schemas.openxmlformats.org/officeDocument/2006/relationships/slideLayout" Target="/ppt/slideLayouts/slideLayout1.xml" Id="R0b17feb49cf845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17feb49cf845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c608e3965f4314" /><Relationship Type="http://schemas.openxmlformats.org/officeDocument/2006/relationships/notesSlide" Target="/ppt/notesSlides/notesSlide1.xml" Id="R78b609aadff14a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63862ac07e421f" /><Relationship Type="http://schemas.openxmlformats.org/officeDocument/2006/relationships/notesSlide" Target="/ppt/notesSlides/notesSlide2.xml" Id="R246107730e4f42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71b015d4204882" /><Relationship Type="http://schemas.openxmlformats.org/officeDocument/2006/relationships/notesSlide" Target="/ppt/notesSlides/notesSlide3.xml" Id="Rd77c3076fa9742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52a404e85340d5" /><Relationship Type="http://schemas.openxmlformats.org/officeDocument/2006/relationships/notesSlide" Target="/ppt/notesSlides/notesSlide4.xml" Id="R0c6cb51579da43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343b161f8141d1" /><Relationship Type="http://schemas.openxmlformats.org/officeDocument/2006/relationships/notesSlide" Target="/ppt/notesSlides/notesSlide5.xml" Id="R2400a17e574f4b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de646d15994d45" /><Relationship Type="http://schemas.openxmlformats.org/officeDocument/2006/relationships/notesSlide" Target="/ppt/notesSlides/notesSlide6.xml" Id="R0b7fba41b32b4e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ec6ed6dc1b4914" /><Relationship Type="http://schemas.openxmlformats.org/officeDocument/2006/relationships/notesSlide" Target="/ppt/notesSlides/notesSlide7.xml" Id="Re82ba0f24f884c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626fe23af34d71" /><Relationship Type="http://schemas.openxmlformats.org/officeDocument/2006/relationships/notesSlide" Target="/ppt/notesSlides/notesSlide8.xml" Id="Rbd3225bccb6f48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af788bdb3e46cd" /><Relationship Type="http://schemas.openxmlformats.org/officeDocument/2006/relationships/notesSlide" Target="/ppt/notesSlides/notesSlide9.xml" Id="R2c665799ce6e4c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f0c253c6d94ebc" /><Relationship Type="http://schemas.openxmlformats.org/officeDocument/2006/relationships/hyperlink" Target="https://github.com/tifa2UP/qaf-jev-challenge" TargetMode="External" Id="R9dad3709f6d84154" /><Relationship Type="http://schemas.openxmlformats.org/officeDocument/2006/relationships/hyperlink" Target="https://tifa2up.github.io/qaf-jev-challenge/" TargetMode="External" Id="Raed3fdb07c72446e" /><Relationship Type="http://schemas.openxmlformats.org/officeDocument/2006/relationships/hyperlink" Target="https://qaf.ai" TargetMode="External" Id="R365e5cb71b9c47f8" /><Relationship Type="http://schemas.openxmlformats.org/officeDocument/2006/relationships/hyperlink" Target="https://qaf-jev-v4-vs-prod.pages.dev/" TargetMode="External" Id="R178089a4c0944bf5" /><Relationship Type="http://schemas.openxmlformats.org/officeDocument/2006/relationships/notesSlide" Target="/ppt/notesSlides/notesSlide10.xml" Id="Rc53ec6a8d951482f" /></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2183F"/>
        </a:solidFill>
      </p:bgPr>
    </p:bg>
    <p:spTree>
      <p:nvGrpSpPr>
        <p:cNvPr id="1" name=""/>
        <p:cNvGrpSpPr/>
        <p:nvPr/>
      </p:nvGrpSpPr>
      <p:grpSpPr>
        <a:xfrm/>
      </p:grpSpPr>
      <p:sp>
        <p:nvSpPr>
          <p:cNvPr id="7" name="قاف">
            <a:extLst>
              <a:ext uri="{FF2B5EF4-FFF2-40B4-BE49-F238E27FC236}">
                <ns2:creationId id="{80086250-6DA4-4EA0-9BB6-F709B05F9254}"/>
              </a:ext>
            </a:extLst>
          </p:cNvPr>
          <p:cNvSpPr>
            <a:spLocks noGrp="1"/>
          </p:cNvSpPr>
          <p:nvPr/>
        </p:nvSpPr>
        <p:spPr>
          <a:xfrm>
            <a:off x="762000" y="704850"/>
            <a:ext cx="10668000" cy="1285875"/>
          </a:xfrm>
          <a:prstGeom prst="rect">
            <a:avLst/>
          </a:prstGeom>
          <a:noFill/>
          <a:ln w="0">
            <a:noFill/>
          </a:ln>
        </p:spPr>
        <p:txBody>
          <a:bodyPr wrap="none" lIns="0" tIns="0" rIns="0" bIns="0" anchor="t">
            <a:noAutofit/>
          </a:bodyPr>
          <a:lstStyle/>
          <a:p>
            <a:pPr algn="r" rtl="1">
              <a:defRPr sz="7950" b="1" lang="ar-SA">
                <a:solidFill>
                  <a:srgbClr val="FFFFFF"/>
                </a:solidFill>
                <a:latin typeface="Readex Pro"/>
                <a:ea typeface="Readex Pro"/>
                <a:cs typeface="Readex Pro"/>
              </a:defRPr>
            </a:pPr>
            <a:r>
              <a:rPr sz="7950" b="1" lang="ar-SA">
                <a:solidFill>
                  <a:srgbClr val="FFFFFF"/>
                </a:solidFill>
                <a:latin typeface="Readex Pro"/>
                <a:ea typeface="Readex Pro"/>
                <a:cs typeface="Readex Pro"/>
              </a:rPr>
              <a:t>قاف</a:t>
            </a:r>
          </a:p>
        </p:txBody>
      </p:sp>
      <p:sp>
        <p:nvSpPr>
          <p:cNvPr id="2" name="Qaf AI مع Jev">
            <a:extLst>
              <a:ext uri="{FF2B5EF4-FFF2-40B4-BE49-F238E27FC236}">
                <ns2:creationId id="{64CFA3FC-1E9D-4D1F-8A8A-AAB1B56791F6}"/>
              </a:ext>
            </a:extLst>
          </p:cNvPr>
          <p:cNvSpPr>
            <a:spLocks noGrp="1"/>
          </p:cNvSpPr>
          <p:nvPr/>
        </p:nvSpPr>
        <p:spPr>
          <a:xfrm>
            <a:off x="762000" y="2143125"/>
            <a:ext cx="10668000" cy="762000"/>
          </a:xfrm>
          <a:prstGeom prst="rect">
            <a:avLst/>
          </a:prstGeom>
          <a:noFill/>
          <a:ln w="0">
            <a:noFill/>
          </a:ln>
        </p:spPr>
        <p:txBody>
          <a:bodyPr wrap="none" lIns="0" tIns="0" rIns="0" bIns="0" anchor="t">
            <a:noAutofit/>
          </a:bodyPr>
          <a:lstStyle/>
          <a:p>
            <a:pPr algn="r" rtl="1">
              <a:defRPr sz="4050" b="1" lang="ar-SA">
                <a:solidFill>
                  <a:srgbClr val="FFFFFF"/>
                </a:solidFill>
                <a:latin typeface="Readex Pro"/>
                <a:ea typeface="Readex Pro"/>
                <a:cs typeface="Readex Pro"/>
              </a:defRPr>
            </a:pPr>
            <a:r>
              <a:rPr sz="4050" b="1" lang="ar-SA">
                <a:solidFill>
                  <a:srgbClr val="FFFFFF"/>
                </a:solidFill>
                <a:latin typeface="Readex Pro"/>
                <a:ea typeface="Readex Pro"/>
                <a:cs typeface="Readex Pro"/>
              </a:rPr>
              <a:t>Qaf AI مع Jev</a:t>
            </a:r>
          </a:p>
        </p:txBody>
      </p:sp>
      <p:sp>
        <p:nvSpPr>
          <p:cNvPr id="3" name="استرجاع المصادر الإسلامية بتوجيه ب">
            <a:extLst>
              <a:ext uri="{FF2B5EF4-FFF2-40B4-BE49-F238E27FC236}">
                <ns2:creationId id="{9BE75D61-8292-4A3D-9EFC-EC56A0DD7884}"/>
              </a:ext>
            </a:extLst>
          </p:cNvPr>
          <p:cNvSpPr>
            <a:spLocks noGrp="1"/>
          </p:cNvSpPr>
          <p:nvPr/>
        </p:nvSpPr>
        <p:spPr>
          <a:xfrm>
            <a:off x="762000" y="3152775"/>
            <a:ext cx="10668000" cy="619125"/>
          </a:xfrm>
          <a:prstGeom prst="rect">
            <a:avLst/>
          </a:prstGeom>
          <a:noFill/>
          <a:ln w="0">
            <a:noFill/>
          </a:ln>
        </p:spPr>
        <p:txBody>
          <a:bodyPr wrap="none" lIns="0" tIns="0" rIns="0" bIns="0" anchor="t">
            <a:noAutofit/>
          </a:bodyPr>
          <a:lstStyle/>
          <a:p>
            <a:pPr algn="r" rtl="1">
              <a:defRPr sz="2850" b="1" lang="ar-SA">
                <a:solidFill>
                  <a:srgbClr val="2EF2C2"/>
                </a:solidFill>
                <a:latin typeface="Readex Pro"/>
                <a:ea typeface="Readex Pro"/>
                <a:cs typeface="Readex Pro"/>
              </a:defRPr>
            </a:pPr>
            <a:r>
              <a:rPr sz="2850" b="1" lang="ar-SA">
                <a:solidFill>
                  <a:srgbClr val="2EF2C2"/>
                </a:solidFill>
                <a:latin typeface="Readex Pro"/>
                <a:ea typeface="Readex Pro"/>
                <a:cs typeface="Readex Pro"/>
              </a:rPr>
              <a:t>استرجاع المصادر الإسلامية بتوجيه برمجي</a:t>
            </a:r>
          </a:p>
        </p:txBody>
      </p:sp>
      <p:sp>
        <p:nvSpPr>
          <p:cNvPr id="4" name="المسار: الحوار المعرفي والإجابات ا">
            <a:extLst>
              <a:ext uri="{FF2B5EF4-FFF2-40B4-BE49-F238E27FC236}">
                <ns2:creationId id="{B0A356B2-AE4E-4A43-AE11-7813FA2F5719}"/>
              </a:ext>
            </a:extLst>
          </p:cNvPr>
          <p:cNvSpPr>
            <a:spLocks noGrp="1"/>
          </p:cNvSpPr>
          <p:nvPr/>
        </p:nvSpPr>
        <p:spPr>
          <a:xfrm>
            <a:off x="762000" y="4219575"/>
            <a:ext cx="10668000" cy="419100"/>
          </a:xfrm>
          <a:prstGeom prst="rect">
            <a:avLst/>
          </a:prstGeom>
          <a:noFill/>
          <a:ln w="0">
            <a:noFill/>
          </a:ln>
        </p:spPr>
        <p:txBody>
          <a:bodyPr wrap="none" lIns="0" tIns="0" rIns="0" bIns="0" anchor="t">
            <a:noAutofit/>
          </a:bodyPr>
          <a:lstStyle/>
          <a:p>
            <a:pPr algn="r" rtl="1">
              <a:defRPr sz="2025" b="0" lang="ar-SA">
                <a:solidFill>
                  <a:srgbClr val="BAC2DA"/>
                </a:solidFill>
                <a:latin typeface="Readex Pro"/>
                <a:ea typeface="Readex Pro"/>
                <a:cs typeface="Readex Pro"/>
              </a:defRPr>
            </a:pPr>
            <a:r>
              <a:rPr sz="2025" b="0" lang="ar-SA">
                <a:solidFill>
                  <a:srgbClr val="BAC2DA"/>
                </a:solidFill>
                <a:latin typeface="Readex Pro"/>
                <a:ea typeface="Readex Pro"/>
                <a:cs typeface="Readex Pro"/>
              </a:rPr>
              <a:t>المسار: الحوار المعرفي والإجابات الموثوقة</a:t>
            </a:r>
          </a:p>
        </p:txBody>
      </p:sp>
      <p:sp>
        <p:nvSpPr>
          <p:cNvPr id="5" name="مشاركة فردية: عبد اللطيف عبد الفتا">
            <a:extLst>
              <a:ext uri="{FF2B5EF4-FFF2-40B4-BE49-F238E27FC236}">
                <ns2:creationId id="{4D67AC88-C392-47A1-9C90-95C7FCEC89DB}"/>
              </a:ext>
            </a:extLst>
          </p:cNvPr>
          <p:cNvSpPr>
            <a:spLocks noGrp="1"/>
          </p:cNvSpPr>
          <p:nvPr/>
        </p:nvSpPr>
        <p:spPr>
          <a:xfrm>
            <a:off x="762000" y="4781550"/>
            <a:ext cx="10668000" cy="457200"/>
          </a:xfrm>
          <a:prstGeom prst="rect">
            <a:avLst/>
          </a:prstGeom>
          <a:noFill/>
          <a:ln w="0">
            <a:noFill/>
          </a:ln>
        </p:spPr>
        <p:txBody>
          <a:bodyPr wrap="none" lIns="0" tIns="0" rIns="0" bIns="0" anchor="t">
            <a:noAutofit/>
          </a:bodyPr>
          <a:lstStyle/>
          <a:p>
            <a:pPr algn="r" rtl="1">
              <a:defRPr sz="2100" b="0" lang="ar-SA">
                <a:solidFill>
                  <a:srgbClr val="FFFFFF"/>
                </a:solidFill>
                <a:latin typeface="Readex Pro"/>
                <a:ea typeface="Readex Pro"/>
                <a:cs typeface="Readex Pro"/>
              </a:defRPr>
            </a:pPr>
            <a:r>
              <a:rPr sz="2100" b="0" lang="ar-SA">
                <a:solidFill>
                  <a:srgbClr val="FFFFFF"/>
                </a:solidFill>
                <a:latin typeface="Readex Pro"/>
                <a:ea typeface="Readex Pro"/>
                <a:cs typeface="Readex Pro"/>
              </a:rPr>
              <a:t>مشاركة فردية: عبد اللطيف عبد الفتاح</a:t>
            </a:r>
          </a:p>
        </p:txBody>
      </p:sp>
      <p:sp>
        <p:nvSpPr>
          <p:cNvPr id="6" name="٦ أكتوبر ٢٠٢٦">
            <a:extLst>
              <a:ext uri="{FF2B5EF4-FFF2-40B4-BE49-F238E27FC236}">
                <ns2:creationId id="{A641272A-45B5-4438-A974-FB9A93D9D33C}"/>
              </a:ext>
            </a:extLst>
          </p:cNvPr>
          <p:cNvSpPr>
            <a:spLocks noGrp="1"/>
          </p:cNvSpPr>
          <p:nvPr/>
        </p:nvSpPr>
        <p:spPr>
          <a:xfrm>
            <a:off x="762000" y="5857875"/>
            <a:ext cx="10668000" cy="419100"/>
          </a:xfrm>
          <a:prstGeom prst="rect">
            <a:avLst/>
          </a:prstGeom>
          <a:noFill/>
          <a:ln w="0">
            <a:noFill/>
          </a:ln>
        </p:spPr>
        <p:txBody>
          <a:bodyPr wrap="none" lIns="0" tIns="0" rIns="0" bIns="0" anchor="t">
            <a:noAutofit/>
          </a:bodyPr>
          <a:lstStyle/>
          <a:p>
            <a:pPr algn="r" rtl="1">
              <a:defRPr sz="1800" b="0" lang="ar-SA">
                <a:solidFill>
                  <a:srgbClr val="BAC2DA"/>
                </a:solidFill>
                <a:latin typeface="Readex Pro"/>
                <a:ea typeface="Readex Pro"/>
                <a:cs typeface="Readex Pro"/>
              </a:defRPr>
            </a:pPr>
            <a:r>
              <a:rPr sz="1800" b="0" lang="ar-SA">
                <a:solidFill>
                  <a:srgbClr val="BAC2DA"/>
                </a:solidFill>
                <a:latin typeface="Readex Pro"/>
                <a:ea typeface="Readex Pro"/>
                <a:cs typeface="Readex Pro"/>
              </a:rPr>
              <a:t>٦ أكتوبر ٢٠٢٦</a:t>
            </a:r>
          </a:p>
        </p:txBody>
      </p:sp>
    </p:spTree>
    <p:extLst>
      <p:ext uri="{BB962C8B-B14F-4D97-AF65-F5344CB8AC3E}">
        <ns3:creationId val="488018608"/>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2F4FF"/>
        </a:solidFill>
      </p:bgPr>
    </p:bg>
    <p:spTree>
      <p:nvGrpSpPr>
        <p:cNvPr id="1" name=""/>
        <p:cNvGrpSpPr/>
        <p:nvPr/>
      </p:nvGrpSpPr>
      <p:grpSpPr>
        <a:xfrm/>
      </p:grpSpPr>
      <p:sp>
        <p:nvSpPr>
          <p:cNvPr id="13" name="المشكلة وتجربة قاف">
            <a:extLst>
              <a:ext uri="{FF2B5EF4-FFF2-40B4-BE49-F238E27FC236}">
                <ns2:creationId id="{AA392DF9-A468-4A71-BC2D-46EE24A6B1BE}"/>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12183F"/>
                </a:solidFill>
                <a:latin typeface="Readex Pro"/>
                <a:ea typeface="Readex Pro"/>
                <a:cs typeface="Readex Pro"/>
              </a:defRPr>
            </a:pPr>
            <a:r>
              <a:rPr sz="3375" b="1" lang="ar-SA">
                <a:solidFill>
                  <a:srgbClr val="12183F"/>
                </a:solidFill>
                <a:latin typeface="Readex Pro"/>
                <a:ea typeface="Readex Pro"/>
                <a:cs typeface="Readex Pro"/>
              </a:rPr>
              <a:t>المشكلة وتجربة قاف</a:t>
            </a:r>
          </a:p>
        </p:txBody>
      </p:sp>
      <p:sp>
        <p:nvSpPr>
          <p:cNvPr id="2" name="page">
            <a:extLst>
              <a:ext uri="{FF2B5EF4-FFF2-40B4-BE49-F238E27FC236}">
                <ns2:creationId id="{D3A3F548-1729-4449-9D89-A88CFDC8A174}"/>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343B5C"/>
                </a:solidFill>
                <a:latin typeface="Readex Pro"/>
                <a:ea typeface="Readex Pro"/>
                <a:cs typeface="Readex Pro"/>
              </a:defRPr>
            </a:pPr>
            <a:r>
              <a:rPr sz="1350" b="0">
                <a:solidFill>
                  <a:srgbClr val="343B5C"/>
                </a:solidFill>
                <a:latin typeface="Readex Pro"/>
                <a:ea typeface="Readex Pro"/>
                <a:cs typeface="Readex Pro"/>
              </a:rPr>
              <a:t>02</a:t>
            </a:r>
          </a:p>
        </p:txBody>
      </p:sp>
      <p:sp>
        <p:nvSpPr>
          <p:cNvPr id="3" name="حاجة الباحث والقارئ">
            <a:extLst>
              <a:ext uri="{FF2B5EF4-FFF2-40B4-BE49-F238E27FC236}">
                <ns2:creationId id="{CF2DB7C6-768F-4E78-BF88-9A02B3531495}"/>
              </a:ext>
            </a:extLst>
          </p:cNvPr>
          <p:cNvSpPr>
            <a:spLocks noGrp="1"/>
          </p:cNvSpPr>
          <p:nvPr/>
        </p:nvSpPr>
        <p:spPr>
          <a:xfrm>
            <a:off x="6715125" y="1657350"/>
            <a:ext cx="4714875" cy="514350"/>
          </a:xfrm>
          <a:prstGeom prst="rect">
            <a:avLst/>
          </a:prstGeom>
          <a:noFill/>
          <a:ln w="0">
            <a:noFill/>
          </a:ln>
        </p:spPr>
        <p:txBody>
          <a:bodyPr wrap="none" lIns="0" tIns="0" rIns="0" bIns="0" anchor="t">
            <a:noAutofit/>
          </a:bodyPr>
          <a:lstStyle/>
          <a:p>
            <a:pPr algn="r" rtl="1">
              <a:defRPr sz="2475" b="1" lang="ar-SA">
                <a:solidFill>
                  <a:srgbClr val="6150EA"/>
                </a:solidFill>
                <a:latin typeface="Readex Pro"/>
                <a:ea typeface="Readex Pro"/>
                <a:cs typeface="Readex Pro"/>
              </a:defRPr>
            </a:pPr>
            <a:r>
              <a:rPr sz="2475" b="1" lang="ar-SA">
                <a:solidFill>
                  <a:srgbClr val="6150EA"/>
                </a:solidFill>
                <a:latin typeface="Readex Pro"/>
                <a:ea typeface="Readex Pro"/>
                <a:cs typeface="Readex Pro"/>
              </a:rPr>
              <a:t>حاجة الباحث والقارئ</a:t>
            </a:r>
          </a:p>
        </p:txBody>
      </p:sp>
      <p:sp>
        <p:nvSpPr>
          <p:cNvPr id="4" name="الوصول إلى النصوص ذات الصلة">
            <a:extLst>
              <a:ext uri="{FF2B5EF4-FFF2-40B4-BE49-F238E27FC236}">
                <ns2:creationId id="{494B17D0-B7B8-4535-9E4A-80E7C4829E81}"/>
              </a:ext>
            </a:extLst>
          </p:cNvPr>
          <p:cNvSpPr>
            <a:spLocks noGrp="1"/>
          </p:cNvSpPr>
          <p:nvPr/>
        </p:nvSpPr>
        <p:spPr>
          <a:xfrm>
            <a:off x="6477000" y="2514600"/>
            <a:ext cx="4953000" cy="428625"/>
          </a:xfrm>
          <a:prstGeom prst="rect">
            <a:avLst/>
          </a:prstGeom>
          <a:noFill/>
          <a:ln w="0">
            <a:noFill/>
          </a:ln>
        </p:spPr>
        <p:txBody>
          <a:bodyPr wrap="none" lIns="0" tIns="0" rIns="0" bIns="0" anchor="t">
            <a:noAutofit/>
          </a:bodyPr>
          <a:lstStyle/>
          <a:p>
            <a:pPr algn="r" rtl="1">
              <a:defRPr sz="2100" b="0" lang="ar-SA">
                <a:solidFill>
                  <a:srgbClr val="12183F"/>
                </a:solidFill>
                <a:latin typeface="Readex Pro"/>
                <a:ea typeface="Readex Pro"/>
                <a:cs typeface="Readex Pro"/>
              </a:defRPr>
            </a:pPr>
            <a:r>
              <a:rPr sz="2100" b="0" lang="ar-SA">
                <a:solidFill>
                  <a:srgbClr val="12183F"/>
                </a:solidFill>
                <a:latin typeface="Readex Pro"/>
                <a:ea typeface="Readex Pro"/>
                <a:cs typeface="Readex Pro"/>
              </a:rPr>
              <a:t>الوصول إلى النصوص ذات الصلة</a:t>
            </a:r>
          </a:p>
        </p:txBody>
      </p:sp>
      <p:sp>
        <p:nvSpPr>
          <p:cNvPr id="5" name="وقراءة الدليل في سياقه">
            <a:extLst>
              <a:ext uri="{FF2B5EF4-FFF2-40B4-BE49-F238E27FC236}">
                <ns2:creationId id="{65B2E325-A66B-45E3-AACB-447BBCD3E212}"/>
              </a:ext>
            </a:extLst>
          </p:cNvPr>
          <p:cNvSpPr>
            <a:spLocks noGrp="1"/>
          </p:cNvSpPr>
          <p:nvPr/>
        </p:nvSpPr>
        <p:spPr>
          <a:xfrm>
            <a:off x="6477000" y="3048000"/>
            <a:ext cx="4953000" cy="428625"/>
          </a:xfrm>
          <a:prstGeom prst="rect">
            <a:avLst/>
          </a:prstGeom>
          <a:noFill/>
          <a:ln w="0">
            <a:noFill/>
          </a:ln>
        </p:spPr>
        <p:txBody>
          <a:bodyPr wrap="none" lIns="0" tIns="0" rIns="0" bIns="0" anchor="t">
            <a:noAutofit/>
          </a:bodyPr>
          <a:lstStyle/>
          <a:p>
            <a:pPr algn="r" rtl="1">
              <a:defRPr sz="2100" b="0" lang="ar-SA">
                <a:solidFill>
                  <a:srgbClr val="12183F"/>
                </a:solidFill>
                <a:latin typeface="Readex Pro"/>
                <a:ea typeface="Readex Pro"/>
                <a:cs typeface="Readex Pro"/>
              </a:defRPr>
            </a:pPr>
            <a:r>
              <a:rPr sz="2100" b="0" lang="ar-SA">
                <a:solidFill>
                  <a:srgbClr val="12183F"/>
                </a:solidFill>
                <a:latin typeface="Readex Pro"/>
                <a:ea typeface="Readex Pro"/>
                <a:cs typeface="Readex Pro"/>
              </a:rPr>
              <a:t>وقراءة الدليل في سياقه</a:t>
            </a:r>
          </a:p>
        </p:txBody>
      </p:sp>
      <p:sp>
        <p:nvSpPr>
          <p:cNvPr id="6" name="مع زمن انتظار وكلفة مناسبين">
            <a:extLst>
              <a:ext uri="{FF2B5EF4-FFF2-40B4-BE49-F238E27FC236}">
                <ns2:creationId id="{0D2B2A7C-1930-49DB-879F-FC7228C57CA1}"/>
              </a:ext>
            </a:extLst>
          </p:cNvPr>
          <p:cNvSpPr>
            <a:spLocks noGrp="1"/>
          </p:cNvSpPr>
          <p:nvPr/>
        </p:nvSpPr>
        <p:spPr>
          <a:xfrm>
            <a:off x="6477000" y="3581400"/>
            <a:ext cx="4953000" cy="428625"/>
          </a:xfrm>
          <a:prstGeom prst="rect">
            <a:avLst/>
          </a:prstGeom>
          <a:noFill/>
          <a:ln w="0">
            <a:noFill/>
          </a:ln>
        </p:spPr>
        <p:txBody>
          <a:bodyPr wrap="none" lIns="0" tIns="0" rIns="0" bIns="0" anchor="t">
            <a:noAutofit/>
          </a:bodyPr>
          <a:lstStyle/>
          <a:p>
            <a:pPr algn="r" rtl="1">
              <a:defRPr sz="2100" b="0" lang="ar-SA">
                <a:solidFill>
                  <a:srgbClr val="12183F"/>
                </a:solidFill>
                <a:latin typeface="Readex Pro"/>
                <a:ea typeface="Readex Pro"/>
                <a:cs typeface="Readex Pro"/>
              </a:defRPr>
            </a:pPr>
            <a:r>
              <a:rPr sz="2100" b="0" lang="ar-SA">
                <a:solidFill>
                  <a:srgbClr val="12183F"/>
                </a:solidFill>
                <a:latin typeface="Readex Pro"/>
                <a:ea typeface="Readex Pro"/>
                <a:cs typeface="Readex Pro"/>
              </a:rPr>
              <a:t>مع زمن انتظار وكلفة مناسبين</a:t>
            </a:r>
          </a:p>
        </p:txBody>
      </p:sp>
      <p:sp>
        <p:nvSpPr>
          <p:cNvPr id="7" name="قاف القائم">
            <a:extLst>
              <a:ext uri="{FF2B5EF4-FFF2-40B4-BE49-F238E27FC236}">
                <ns2:creationId id="{E9A6997C-C03C-4C66-B4E1-EA5140669D6F}"/>
              </a:ext>
            </a:extLst>
          </p:cNvPr>
          <p:cNvSpPr>
            <a:spLocks noGrp="1"/>
          </p:cNvSpPr>
          <p:nvPr/>
        </p:nvSpPr>
        <p:spPr>
          <a:xfrm>
            <a:off x="762000" y="1657350"/>
            <a:ext cx="4619625" cy="514350"/>
          </a:xfrm>
          <a:prstGeom prst="rect">
            <a:avLst/>
          </a:prstGeom>
          <a:noFill/>
          <a:ln w="0">
            <a:noFill/>
          </a:ln>
        </p:spPr>
        <p:txBody>
          <a:bodyPr wrap="none" lIns="0" tIns="0" rIns="0" bIns="0" anchor="t">
            <a:noAutofit/>
          </a:bodyPr>
          <a:lstStyle/>
          <a:p>
            <a:pPr algn="r" rtl="1">
              <a:defRPr sz="2475" b="1" lang="ar-SA">
                <a:solidFill>
                  <a:srgbClr val="6150EA"/>
                </a:solidFill>
                <a:latin typeface="Readex Pro"/>
                <a:ea typeface="Readex Pro"/>
                <a:cs typeface="Readex Pro"/>
              </a:defRPr>
            </a:pPr>
            <a:r>
              <a:rPr sz="2475" b="1" lang="ar-SA">
                <a:solidFill>
                  <a:srgbClr val="6150EA"/>
                </a:solidFill>
                <a:latin typeface="Readex Pro"/>
                <a:ea typeface="Readex Pro"/>
                <a:cs typeface="Readex Pro"/>
              </a:rPr>
              <a:t>قاف القائم</a:t>
            </a:r>
          </a:p>
        </p:txBody>
      </p:sp>
      <p:sp>
        <p:nvSpPr>
          <p:cNvPr id="8" name="بحث حواري في المعرفة الإسلامية">
            <a:extLst>
              <a:ext uri="{FF2B5EF4-FFF2-40B4-BE49-F238E27FC236}">
                <ns2:creationId id="{911F583A-F6E8-444D-AB63-58FDCBD1CD2C}"/>
              </a:ext>
            </a:extLst>
          </p:cNvPr>
          <p:cNvSpPr>
            <a:spLocks noGrp="1"/>
          </p:cNvSpPr>
          <p:nvPr/>
        </p:nvSpPr>
        <p:spPr>
          <a:xfrm>
            <a:off x="762000" y="2514600"/>
            <a:ext cx="4619625" cy="428625"/>
          </a:xfrm>
          <a:prstGeom prst="rect">
            <a:avLst/>
          </a:prstGeom>
          <a:noFill/>
          <a:ln w="0">
            <a:noFill/>
          </a:ln>
        </p:spPr>
        <p:txBody>
          <a:bodyPr wrap="none" lIns="0" tIns="0" rIns="0" bIns="0" anchor="t">
            <a:noAutofit/>
          </a:bodyPr>
          <a:lstStyle/>
          <a:p>
            <a:pPr algn="r" rtl="1">
              <a:defRPr sz="2100" b="0" lang="ar-SA">
                <a:solidFill>
                  <a:srgbClr val="12183F"/>
                </a:solidFill>
                <a:latin typeface="Readex Pro"/>
                <a:ea typeface="Readex Pro"/>
                <a:cs typeface="Readex Pro"/>
              </a:defRPr>
            </a:pPr>
            <a:r>
              <a:rPr sz="2100" b="0" lang="ar-SA">
                <a:solidFill>
                  <a:srgbClr val="12183F"/>
                </a:solidFill>
                <a:latin typeface="Readex Pro"/>
                <a:ea typeface="Readex Pro"/>
                <a:cs typeface="Readex Pro"/>
              </a:rPr>
              <a:t>بحث حواري في المعرفة الإسلامية</a:t>
            </a:r>
          </a:p>
        </p:txBody>
      </p:sp>
      <p:sp>
        <p:nvSpPr>
          <p:cNvPr id="9" name="وإحالات تتيح فتح النصوص">
            <a:extLst>
              <a:ext uri="{FF2B5EF4-FFF2-40B4-BE49-F238E27FC236}">
                <ns2:creationId id="{EEBC0459-5E1F-465A-96ED-08704C6BCEEA}"/>
              </a:ext>
            </a:extLst>
          </p:cNvPr>
          <p:cNvSpPr>
            <a:spLocks noGrp="1"/>
          </p:cNvSpPr>
          <p:nvPr/>
        </p:nvSpPr>
        <p:spPr>
          <a:xfrm>
            <a:off x="762000" y="3048000"/>
            <a:ext cx="4619625" cy="428625"/>
          </a:xfrm>
          <a:prstGeom prst="rect">
            <a:avLst/>
          </a:prstGeom>
          <a:noFill/>
          <a:ln w="0">
            <a:noFill/>
          </a:ln>
        </p:spPr>
        <p:txBody>
          <a:bodyPr wrap="none" lIns="0" tIns="0" rIns="0" bIns="0" anchor="t">
            <a:noAutofit/>
          </a:bodyPr>
          <a:lstStyle/>
          <a:p>
            <a:pPr algn="r" rtl="1">
              <a:defRPr sz="2100" b="0" lang="ar-SA">
                <a:solidFill>
                  <a:srgbClr val="12183F"/>
                </a:solidFill>
                <a:latin typeface="Readex Pro"/>
                <a:ea typeface="Readex Pro"/>
                <a:cs typeface="Readex Pro"/>
              </a:defRPr>
            </a:pPr>
            <a:r>
              <a:rPr sz="2100" b="0" lang="ar-SA">
                <a:solidFill>
                  <a:srgbClr val="12183F"/>
                </a:solidFill>
                <a:latin typeface="Readex Pro"/>
                <a:ea typeface="Readex Pro"/>
                <a:cs typeface="Readex Pro"/>
              </a:rPr>
              <a:t>وإحالات تتيح فتح النصوص</a:t>
            </a:r>
          </a:p>
        </p:txBody>
      </p:sp>
      <p:sp>
        <p:nvSpPr>
          <p:cNvPr id="10" name="والرجوع إلى مصادرها">
            <a:extLst>
              <a:ext uri="{FF2B5EF4-FFF2-40B4-BE49-F238E27FC236}">
                <ns2:creationId id="{C094CF9C-A371-4199-9F6B-2C04E01C2BD4}"/>
              </a:ext>
            </a:extLst>
          </p:cNvPr>
          <p:cNvSpPr>
            <a:spLocks noGrp="1"/>
          </p:cNvSpPr>
          <p:nvPr/>
        </p:nvSpPr>
        <p:spPr>
          <a:xfrm>
            <a:off x="762000" y="3581400"/>
            <a:ext cx="4619625" cy="428625"/>
          </a:xfrm>
          <a:prstGeom prst="rect">
            <a:avLst/>
          </a:prstGeom>
          <a:noFill/>
          <a:ln w="0">
            <a:noFill/>
          </a:ln>
        </p:spPr>
        <p:txBody>
          <a:bodyPr wrap="none" lIns="0" tIns="0" rIns="0" bIns="0" anchor="t">
            <a:noAutofit/>
          </a:bodyPr>
          <a:lstStyle/>
          <a:p>
            <a:pPr algn="r" rtl="1">
              <a:defRPr sz="2100" b="0" lang="ar-SA">
                <a:solidFill>
                  <a:srgbClr val="12183F"/>
                </a:solidFill>
                <a:latin typeface="Readex Pro"/>
                <a:ea typeface="Readex Pro"/>
                <a:cs typeface="Readex Pro"/>
              </a:defRPr>
            </a:pPr>
            <a:r>
              <a:rPr sz="2100" b="0" lang="ar-SA">
                <a:solidFill>
                  <a:srgbClr val="12183F"/>
                </a:solidFill>
                <a:latin typeface="Readex Pro"/>
                <a:ea typeface="Readex Pro"/>
                <a:cs typeface="Readex Pro"/>
              </a:rPr>
              <a:t>والرجوع إلى مصادرها</a:t>
            </a:r>
          </a:p>
        </p:txBody>
      </p:sp>
      <p:sp>
        <p:nvSpPr>
          <p:cNvPr id="11" name="تستهدف التجربة تحسين طريقة اختيار ">
            <a:extLst>
              <a:ext uri="{FF2B5EF4-FFF2-40B4-BE49-F238E27FC236}">
                <ns2:creationId id="{16BBC18F-EB21-4641-A46D-C826DE1C37F7}"/>
              </a:ext>
            </a:extLst>
          </p:cNvPr>
          <p:cNvSpPr>
            <a:spLocks noGrp="1"/>
          </p:cNvSpPr>
          <p:nvPr/>
        </p:nvSpPr>
        <p:spPr>
          <a:xfrm>
            <a:off x="762000" y="4819650"/>
            <a:ext cx="10668000" cy="552450"/>
          </a:xfrm>
          <a:prstGeom prst="rect">
            <a:avLst/>
          </a:prstGeom>
          <a:noFill/>
          <a:ln w="0">
            <a:noFill/>
          </a:ln>
        </p:spPr>
        <p:txBody>
          <a:bodyPr wrap="none" lIns="0" tIns="0" rIns="0" bIns="0" anchor="t">
            <a:noAutofit/>
          </a:bodyPr>
          <a:lstStyle/>
          <a:p>
            <a:pPr algn="r" rtl="1">
              <a:defRPr sz="2250" b="1" lang="ar-SA">
                <a:solidFill>
                  <a:srgbClr val="6150EA"/>
                </a:solidFill>
                <a:latin typeface="Readex Pro"/>
                <a:ea typeface="Readex Pro"/>
                <a:cs typeface="Readex Pro"/>
              </a:defRPr>
            </a:pPr>
            <a:r>
              <a:rPr sz="2250" b="1" lang="ar-SA">
                <a:solidFill>
                  <a:srgbClr val="6150EA"/>
                </a:solidFill>
                <a:latin typeface="Readex Pro"/>
                <a:ea typeface="Readex Pro"/>
                <a:cs typeface="Readex Pro"/>
              </a:rPr>
              <a:t>تستهدف التجربة تحسين طريقة اختيار المقاطع التي يقرأها نموذج الإجابة.</a:t>
            </a:r>
          </a:p>
        </p:txBody>
      </p:sp>
      <p:sp>
        <p:nvSpPr>
          <p:cNvPr id="12" name="المستفيدون: الباحثون وطلاب العلوم ">
            <a:extLst>
              <a:ext uri="{FF2B5EF4-FFF2-40B4-BE49-F238E27FC236}">
                <ns2:creationId id="{AFA9135B-7E9E-48C2-9C5C-210AA8F5232D}"/>
              </a:ext>
            </a:extLst>
          </p:cNvPr>
          <p:cNvSpPr>
            <a:spLocks noGrp="1"/>
          </p:cNvSpPr>
          <p:nvPr/>
        </p:nvSpPr>
        <p:spPr>
          <a:xfrm>
            <a:off x="762000" y="5572125"/>
            <a:ext cx="10668000" cy="457200"/>
          </a:xfrm>
          <a:prstGeom prst="rect">
            <a:avLst/>
          </a:prstGeom>
          <a:noFill/>
          <a:ln w="0">
            <a:noFill/>
          </a:ln>
        </p:spPr>
        <p:txBody>
          <a:bodyPr wrap="none" lIns="0" tIns="0" rIns="0" bIns="0" anchor="t">
            <a:noAutofit/>
          </a:bodyPr>
          <a:lstStyle/>
          <a:p>
            <a:pPr algn="r" rtl="1">
              <a:defRPr sz="1950" b="0" lang="ar-SA">
                <a:solidFill>
                  <a:srgbClr val="343B5C"/>
                </a:solidFill>
                <a:latin typeface="Readex Pro"/>
                <a:ea typeface="Readex Pro"/>
                <a:cs typeface="Readex Pro"/>
              </a:defRPr>
            </a:pPr>
            <a:r>
              <a:rPr sz="1950" b="0" lang="ar-SA">
                <a:solidFill>
                  <a:srgbClr val="343B5C"/>
                </a:solidFill>
                <a:latin typeface="Readex Pro"/>
                <a:ea typeface="Readex Pro"/>
                <a:cs typeface="Readex Pro"/>
              </a:rPr>
              <a:t>المستفيدون: الباحثون وطلاب العلوم الإسلامية وصنّاع المحتوى المعرفي.</a:t>
            </a:r>
          </a:p>
        </p:txBody>
      </p:sp>
    </p:spTree>
    <p:extLst>
      <p:ext uri="{BB962C8B-B14F-4D97-AF65-F5344CB8AC3E}">
        <ns3:creationId val="857181370"/>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2183F"/>
        </a:solidFill>
      </p:bgPr>
    </p:bg>
    <p:spTree>
      <p:nvGrpSpPr>
        <p:cNvPr id="1" name=""/>
        <p:cNvGrpSpPr/>
        <p:nvPr/>
      </p:nvGrpSpPr>
      <p:grpSpPr>
        <a:xfrm/>
      </p:grpSpPr>
      <p:sp>
        <p:nvSpPr>
          <p:cNvPr id="12" name="آلية Jev في التجربة البحثية">
            <a:extLst>
              <a:ext uri="{FF2B5EF4-FFF2-40B4-BE49-F238E27FC236}">
                <ns2:creationId id="{03F253B4-18E6-4277-ABFF-A716A36801DD}"/>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FFFFFF"/>
                </a:solidFill>
                <a:latin typeface="Readex Pro"/>
                <a:ea typeface="Readex Pro"/>
                <a:cs typeface="Readex Pro"/>
              </a:defRPr>
            </a:pPr>
            <a:r>
              <a:rPr sz="3375" b="1" lang="ar-SA">
                <a:solidFill>
                  <a:srgbClr val="FFFFFF"/>
                </a:solidFill>
                <a:latin typeface="Readex Pro"/>
                <a:ea typeface="Readex Pro"/>
                <a:cs typeface="Readex Pro"/>
              </a:rPr>
              <a:t>آلية Jev في التجربة البحثية</a:t>
            </a:r>
          </a:p>
        </p:txBody>
      </p:sp>
      <p:sp>
        <p:nvSpPr>
          <p:cNvPr id="2" name="page">
            <a:extLst>
              <a:ext uri="{FF2B5EF4-FFF2-40B4-BE49-F238E27FC236}">
                <ns2:creationId id="{B508D42C-9A17-4B1A-A99E-F85F95B132D9}"/>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BAC2DA"/>
                </a:solidFill>
                <a:latin typeface="Readex Pro"/>
                <a:ea typeface="Readex Pro"/>
                <a:cs typeface="Readex Pro"/>
              </a:defRPr>
            </a:pPr>
            <a:r>
              <a:rPr sz="1350" b="0">
                <a:solidFill>
                  <a:srgbClr val="BAC2DA"/>
                </a:solidFill>
                <a:latin typeface="Readex Pro"/>
                <a:ea typeface="Readex Pro"/>
                <a:cs typeface="Readex Pro"/>
              </a:rPr>
              <a:t>03</a:t>
            </a:r>
          </a:p>
        </p:txBody>
      </p:sp>
      <p:sp>
        <p:nvSpPr>
          <p:cNvPr id="3" name="١">
            <a:extLst>
              <a:ext uri="{FF2B5EF4-FFF2-40B4-BE49-F238E27FC236}">
                <ns2:creationId id="{F97F8B04-AE41-4164-8438-055FEFDD426C}"/>
              </a:ext>
            </a:extLst>
          </p:cNvPr>
          <p:cNvSpPr>
            <a:spLocks noGrp="1"/>
          </p:cNvSpPr>
          <p:nvPr/>
        </p:nvSpPr>
        <p:spPr>
          <a:xfrm>
            <a:off x="10801350" y="1714500"/>
            <a:ext cx="628650" cy="533400"/>
          </a:xfrm>
          <a:prstGeom prst="rect">
            <a:avLst/>
          </a:prstGeom>
          <a:noFill/>
          <a:ln w="0">
            <a:noFill/>
          </a:ln>
        </p:spPr>
        <p:txBody>
          <a:bodyPr wrap="none" lIns="0" tIns="0" rIns="0" bIns="0" anchor="t">
            <a:noAutofit/>
          </a:bodyPr>
          <a:lstStyle/>
          <a:p>
            <a:pPr algn="r" rtl="1">
              <a:defRPr sz="2850" b="1" lang="ar-SA">
                <a:solidFill>
                  <a:srgbClr val="2EF2C2"/>
                </a:solidFill>
                <a:latin typeface="Readex Pro"/>
                <a:ea typeface="Readex Pro"/>
                <a:cs typeface="Readex Pro"/>
              </a:defRPr>
            </a:pPr>
            <a:r>
              <a:rPr sz="2850" b="1" lang="ar-SA">
                <a:solidFill>
                  <a:srgbClr val="2EF2C2"/>
                </a:solidFill>
                <a:latin typeface="Readex Pro"/>
                <a:ea typeface="Readex Pro"/>
                <a:cs typeface="Readex Pro"/>
              </a:rPr>
              <a:t>١</a:t>
            </a:r>
          </a:p>
        </p:txBody>
      </p:sp>
      <p:sp>
        <p:nvSpPr>
          <p:cNvPr id="4" name="تصنيف السؤال وبدء الاسترجاع بالتوا">
            <a:extLst>
              <a:ext uri="{FF2B5EF4-FFF2-40B4-BE49-F238E27FC236}">
                <ns2:creationId id="{BEB6FD01-10E0-4276-B8BF-54FA39BFFE99}"/>
              </a:ext>
            </a:extLst>
          </p:cNvPr>
          <p:cNvSpPr>
            <a:spLocks noGrp="1"/>
          </p:cNvSpPr>
          <p:nvPr/>
        </p:nvSpPr>
        <p:spPr>
          <a:xfrm>
            <a:off x="762000" y="1743075"/>
            <a:ext cx="9477375" cy="552450"/>
          </a:xfrm>
          <a:prstGeom prst="rect">
            <a:avLst/>
          </a:prstGeom>
          <a:noFill/>
          <a:ln w="0">
            <a:noFill/>
          </a:ln>
        </p:spPr>
        <p:txBody>
          <a:bodyPr wrap="none" lIns="0" tIns="0" rIns="0" bIns="0" anchor="t">
            <a:noAutofit/>
          </a:bodyPr>
          <a:lstStyle/>
          <a:p>
            <a:pPr algn="r" rtl="1">
              <a:defRPr sz="2325" b="0" lang="ar-SA">
                <a:solidFill>
                  <a:srgbClr val="FFFFFF"/>
                </a:solidFill>
                <a:latin typeface="Readex Pro"/>
                <a:ea typeface="Readex Pro"/>
                <a:cs typeface="Readex Pro"/>
              </a:defRPr>
            </a:pPr>
            <a:r>
              <a:rPr sz="2325" b="0" lang="ar-SA">
                <a:solidFill>
                  <a:srgbClr val="FFFFFF"/>
                </a:solidFill>
                <a:latin typeface="Readex Pro"/>
                <a:ea typeface="Readex Pro"/>
                <a:cs typeface="Readex Pro"/>
              </a:rPr>
              <a:t>تصنيف السؤال وبدء الاسترجاع بالتوازي</a:t>
            </a:r>
          </a:p>
        </p:txBody>
      </p:sp>
      <p:sp>
        <p:nvSpPr>
          <p:cNvPr id="5" name="٢">
            <a:extLst>
              <a:ext uri="{FF2B5EF4-FFF2-40B4-BE49-F238E27FC236}">
                <ns2:creationId id="{B65C7FA4-7527-4D31-9599-EE0E71CBA5AC}"/>
              </a:ext>
            </a:extLst>
          </p:cNvPr>
          <p:cNvSpPr>
            <a:spLocks noGrp="1"/>
          </p:cNvSpPr>
          <p:nvPr/>
        </p:nvSpPr>
        <p:spPr>
          <a:xfrm>
            <a:off x="10801350" y="2647950"/>
            <a:ext cx="628650" cy="533400"/>
          </a:xfrm>
          <a:prstGeom prst="rect">
            <a:avLst/>
          </a:prstGeom>
          <a:noFill/>
          <a:ln w="0">
            <a:noFill/>
          </a:ln>
        </p:spPr>
        <p:txBody>
          <a:bodyPr wrap="none" lIns="0" tIns="0" rIns="0" bIns="0" anchor="t">
            <a:noAutofit/>
          </a:bodyPr>
          <a:lstStyle/>
          <a:p>
            <a:pPr algn="r" rtl="1">
              <a:defRPr sz="2850" b="1" lang="ar-SA">
                <a:solidFill>
                  <a:srgbClr val="2EF2C2"/>
                </a:solidFill>
                <a:latin typeface="Readex Pro"/>
                <a:ea typeface="Readex Pro"/>
                <a:cs typeface="Readex Pro"/>
              </a:defRPr>
            </a:pPr>
            <a:r>
              <a:rPr sz="2850" b="1" lang="ar-SA">
                <a:solidFill>
                  <a:srgbClr val="2EF2C2"/>
                </a:solidFill>
                <a:latin typeface="Readex Pro"/>
                <a:ea typeface="Readex Pro"/>
                <a:cs typeface="Readex Pro"/>
              </a:rPr>
              <a:t>٢</a:t>
            </a:r>
          </a:p>
        </p:txBody>
      </p:sp>
      <p:sp>
        <p:nvSpPr>
          <p:cNvPr id="6" name="تقدير صلة نحو ١٤٠ مقطعًا وفحص اكتم">
            <a:extLst>
              <a:ext uri="{FF2B5EF4-FFF2-40B4-BE49-F238E27FC236}">
                <ns2:creationId id="{DA11344E-66F3-44B3-8564-8E577AF8BE64}"/>
              </a:ext>
            </a:extLst>
          </p:cNvPr>
          <p:cNvSpPr>
            <a:spLocks noGrp="1"/>
          </p:cNvSpPr>
          <p:nvPr/>
        </p:nvSpPr>
        <p:spPr>
          <a:xfrm>
            <a:off x="762000" y="2676525"/>
            <a:ext cx="9477375" cy="552450"/>
          </a:xfrm>
          <a:prstGeom prst="rect">
            <a:avLst/>
          </a:prstGeom>
          <a:noFill/>
          <a:ln w="0">
            <a:noFill/>
          </a:ln>
        </p:spPr>
        <p:txBody>
          <a:bodyPr wrap="none" lIns="0" tIns="0" rIns="0" bIns="0" anchor="t">
            <a:noAutofit/>
          </a:bodyPr>
          <a:lstStyle/>
          <a:p>
            <a:pPr algn="r" rtl="1">
              <a:defRPr sz="2325" b="0" lang="ar-SA">
                <a:solidFill>
                  <a:srgbClr val="FFFFFF"/>
                </a:solidFill>
                <a:latin typeface="Readex Pro"/>
                <a:ea typeface="Readex Pro"/>
                <a:cs typeface="Readex Pro"/>
              </a:defRPr>
            </a:pPr>
            <a:r>
              <a:rPr sz="2325" b="0" lang="ar-SA">
                <a:solidFill>
                  <a:srgbClr val="FFFFFF"/>
                </a:solidFill>
                <a:latin typeface="Readex Pro"/>
                <a:ea typeface="Readex Pro"/>
                <a:cs typeface="Readex Pro"/>
              </a:rPr>
              <a:t>تقدير صلة نحو ١٤٠ مقطعًا وفحص اكتمال النص</a:t>
            </a:r>
          </a:p>
        </p:txBody>
      </p:sp>
      <p:sp>
        <p:nvSpPr>
          <p:cNvPr id="7" name="٣">
            <a:extLst>
              <a:ext uri="{FF2B5EF4-FFF2-40B4-BE49-F238E27FC236}">
                <ns2:creationId id="{1FDAAEC1-0772-47F2-8263-B2A0E895F384}"/>
              </a:ext>
            </a:extLst>
          </p:cNvPr>
          <p:cNvSpPr>
            <a:spLocks noGrp="1"/>
          </p:cNvSpPr>
          <p:nvPr/>
        </p:nvSpPr>
        <p:spPr>
          <a:xfrm>
            <a:off x="10801350" y="3581400"/>
            <a:ext cx="628650" cy="533400"/>
          </a:xfrm>
          <a:prstGeom prst="rect">
            <a:avLst/>
          </a:prstGeom>
          <a:noFill/>
          <a:ln w="0">
            <a:noFill/>
          </a:ln>
        </p:spPr>
        <p:txBody>
          <a:bodyPr wrap="none" lIns="0" tIns="0" rIns="0" bIns="0" anchor="t">
            <a:noAutofit/>
          </a:bodyPr>
          <a:lstStyle/>
          <a:p>
            <a:pPr algn="r" rtl="1">
              <a:defRPr sz="2850" b="1" lang="ar-SA">
                <a:solidFill>
                  <a:srgbClr val="2EF2C2"/>
                </a:solidFill>
                <a:latin typeface="Readex Pro"/>
                <a:ea typeface="Readex Pro"/>
                <a:cs typeface="Readex Pro"/>
              </a:defRPr>
            </a:pPr>
            <a:r>
              <a:rPr sz="2850" b="1" lang="ar-SA">
                <a:solidFill>
                  <a:srgbClr val="2EF2C2"/>
                </a:solidFill>
                <a:latin typeface="Readex Pro"/>
                <a:ea typeface="Readex Pro"/>
                <a:cs typeface="Readex Pro"/>
              </a:rPr>
              <a:t>٣</a:t>
            </a:r>
          </a:p>
        </p:txBody>
      </p:sp>
      <p:sp>
        <p:nvSpPr>
          <p:cNvPr id="8" name="فحص التغطية والمواقف وسد فجوات الا">
            <a:extLst>
              <a:ext uri="{FF2B5EF4-FFF2-40B4-BE49-F238E27FC236}">
                <ns2:creationId id="{5AA244C3-6B6D-4062-9C62-958D11073754}"/>
              </a:ext>
            </a:extLst>
          </p:cNvPr>
          <p:cNvSpPr>
            <a:spLocks noGrp="1"/>
          </p:cNvSpPr>
          <p:nvPr/>
        </p:nvSpPr>
        <p:spPr>
          <a:xfrm>
            <a:off x="762000" y="3609975"/>
            <a:ext cx="9477375" cy="552450"/>
          </a:xfrm>
          <a:prstGeom prst="rect">
            <a:avLst/>
          </a:prstGeom>
          <a:noFill/>
          <a:ln w="0">
            <a:noFill/>
          </a:ln>
        </p:spPr>
        <p:txBody>
          <a:bodyPr wrap="none" lIns="0" tIns="0" rIns="0" bIns="0" anchor="t">
            <a:noAutofit/>
          </a:bodyPr>
          <a:lstStyle/>
          <a:p>
            <a:pPr algn="r" rtl="1">
              <a:defRPr sz="2325" b="0" lang="ar-SA">
                <a:solidFill>
                  <a:srgbClr val="FFFFFF"/>
                </a:solidFill>
                <a:latin typeface="Readex Pro"/>
                <a:ea typeface="Readex Pro"/>
                <a:cs typeface="Readex Pro"/>
              </a:defRPr>
            </a:pPr>
            <a:r>
              <a:rPr sz="2325" b="0" lang="ar-SA">
                <a:solidFill>
                  <a:srgbClr val="FFFFFF"/>
                </a:solidFill>
                <a:latin typeface="Readex Pro"/>
                <a:ea typeface="Readex Pro"/>
                <a:cs typeface="Readex Pro"/>
              </a:rPr>
              <a:t>فحص التغطية والمواقف وسد فجوات الاسترجاع</a:t>
            </a:r>
          </a:p>
        </p:txBody>
      </p:sp>
      <p:sp>
        <p:nvSpPr>
          <p:cNvPr id="9" name="٤">
            <a:extLst>
              <a:ext uri="{FF2B5EF4-FFF2-40B4-BE49-F238E27FC236}">
                <ns2:creationId id="{9F667C93-02F3-4AAE-B893-41D7E044CF94}"/>
              </a:ext>
            </a:extLst>
          </p:cNvPr>
          <p:cNvSpPr>
            <a:spLocks noGrp="1"/>
          </p:cNvSpPr>
          <p:nvPr/>
        </p:nvSpPr>
        <p:spPr>
          <a:xfrm>
            <a:off x="10801350" y="4514850"/>
            <a:ext cx="628650" cy="533400"/>
          </a:xfrm>
          <a:prstGeom prst="rect">
            <a:avLst/>
          </a:prstGeom>
          <a:noFill/>
          <a:ln w="0">
            <a:noFill/>
          </a:ln>
        </p:spPr>
        <p:txBody>
          <a:bodyPr wrap="none" lIns="0" tIns="0" rIns="0" bIns="0" anchor="t">
            <a:noAutofit/>
          </a:bodyPr>
          <a:lstStyle/>
          <a:p>
            <a:pPr algn="r" rtl="1">
              <a:defRPr sz="2850" b="1" lang="ar-SA">
                <a:solidFill>
                  <a:srgbClr val="2EF2C2"/>
                </a:solidFill>
                <a:latin typeface="Readex Pro"/>
                <a:ea typeface="Readex Pro"/>
                <a:cs typeface="Readex Pro"/>
              </a:defRPr>
            </a:pPr>
            <a:r>
              <a:rPr sz="2850" b="1" lang="ar-SA">
                <a:solidFill>
                  <a:srgbClr val="2EF2C2"/>
                </a:solidFill>
                <a:latin typeface="Readex Pro"/>
                <a:ea typeface="Readex Pro"/>
                <a:cs typeface="Readex Pro"/>
              </a:rPr>
              <a:t>٤</a:t>
            </a:r>
          </a:p>
        </p:txBody>
      </p:sp>
      <p:sp>
        <p:nvSpPr>
          <p:cNvPr id="10" name="صياغة Gemini من حزمة مرقمة تضم نحو">
            <a:extLst>
              <a:ext uri="{FF2B5EF4-FFF2-40B4-BE49-F238E27FC236}">
                <ns2:creationId id="{055FCFE8-57C3-42D6-B114-E35DA5E1CB4C}"/>
              </a:ext>
            </a:extLst>
          </p:cNvPr>
          <p:cNvSpPr>
            <a:spLocks noGrp="1"/>
          </p:cNvSpPr>
          <p:nvPr/>
        </p:nvSpPr>
        <p:spPr>
          <a:xfrm>
            <a:off x="762000" y="4543425"/>
            <a:ext cx="9477375" cy="552450"/>
          </a:xfrm>
          <a:prstGeom prst="rect">
            <a:avLst/>
          </a:prstGeom>
          <a:noFill/>
          <a:ln w="0">
            <a:noFill/>
          </a:ln>
        </p:spPr>
        <p:txBody>
          <a:bodyPr wrap="none" lIns="0" tIns="0" rIns="0" bIns="0" anchor="t">
            <a:noAutofit/>
          </a:bodyPr>
          <a:lstStyle/>
          <a:p>
            <a:pPr algn="r" rtl="1">
              <a:defRPr sz="2325" b="0" lang="ar-SA">
                <a:solidFill>
                  <a:srgbClr val="FFFFFF"/>
                </a:solidFill>
                <a:latin typeface="Readex Pro"/>
                <a:ea typeface="Readex Pro"/>
                <a:cs typeface="Readex Pro"/>
              </a:defRPr>
            </a:pPr>
            <a:r>
              <a:rPr sz="2325" b="0" lang="ar-SA">
                <a:solidFill>
                  <a:srgbClr val="FFFFFF"/>
                </a:solidFill>
                <a:latin typeface="Readex Pro"/>
                <a:ea typeface="Readex Pro"/>
                <a:cs typeface="Readex Pro"/>
              </a:rPr>
              <a:t>صياغة Gemini من حزمة مرقمة تضم نحو ٢٣ مقطعًا</a:t>
            </a:r>
          </a:p>
        </p:txBody>
      </p:sp>
      <p:sp>
        <p:nvSpPr>
          <p:cNvPr id="11" name="تدير الشفرة خطوات البحث، ويقدّر Je">
            <a:extLst>
              <a:ext uri="{FF2B5EF4-FFF2-40B4-BE49-F238E27FC236}">
                <ns2:creationId id="{8649A423-BC69-41E6-AD98-68088A5DF2E7}"/>
              </a:ext>
            </a:extLst>
          </p:cNvPr>
          <p:cNvSpPr>
            <a:spLocks noGrp="1"/>
          </p:cNvSpPr>
          <p:nvPr/>
        </p:nvSpPr>
        <p:spPr>
          <a:xfrm>
            <a:off x="762000" y="5734050"/>
            <a:ext cx="10668000" cy="457200"/>
          </a:xfrm>
          <a:prstGeom prst="rect">
            <a:avLst/>
          </a:prstGeom>
          <a:noFill/>
          <a:ln w="0">
            <a:noFill/>
          </a:ln>
        </p:spPr>
        <p:txBody>
          <a:bodyPr wrap="none" lIns="0" tIns="0" rIns="0" bIns="0" anchor="t">
            <a:noAutofit/>
          </a:bodyPr>
          <a:lstStyle/>
          <a:p>
            <a:pPr algn="r" rtl="1">
              <a:defRPr sz="1950" b="0" lang="ar-SA">
                <a:solidFill>
                  <a:srgbClr val="BAC2DA"/>
                </a:solidFill>
                <a:latin typeface="Readex Pro"/>
                <a:ea typeface="Readex Pro"/>
                <a:cs typeface="Readex Pro"/>
              </a:defRPr>
            </a:pPr>
            <a:r>
              <a:rPr sz="1950" b="0" lang="ar-SA">
                <a:solidFill>
                  <a:srgbClr val="BAC2DA"/>
                </a:solidFill>
                <a:latin typeface="Readex Pro"/>
                <a:ea typeface="Readex Pro"/>
                <a:cs typeface="Readex Pro"/>
              </a:rPr>
              <a:t>تدير الشفرة خطوات البحث، ويقدّر Jev المقاطع، ويصوغ Gemini الإجابة.</a:t>
            </a:r>
          </a:p>
        </p:txBody>
      </p:sp>
    </p:spTree>
    <p:extLst>
      <p:ext uri="{BB962C8B-B14F-4D97-AF65-F5344CB8AC3E}">
        <ns3:creationId val="234551111"/>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2F4FF"/>
        </a:solidFill>
      </p:bgPr>
    </p:bg>
    <p:spTree>
      <p:nvGrpSpPr>
        <p:cNvPr id="1" name=""/>
        <p:cNvGrpSpPr/>
        <p:nvPr/>
      </p:nvGrpSpPr>
      <p:grpSpPr>
        <a:xfrm/>
      </p:grpSpPr>
      <p:sp>
        <p:nvSpPr>
          <p:cNvPr id="8" name="ضبط معرّفات الإحالات">
            <a:extLst>
              <a:ext uri="{FF2B5EF4-FFF2-40B4-BE49-F238E27FC236}">
                <ns2:creationId id="{5E248C96-DEA9-4F07-815D-C7E632A7DBE7}"/>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12183F"/>
                </a:solidFill>
                <a:latin typeface="Readex Pro"/>
                <a:ea typeface="Readex Pro"/>
                <a:cs typeface="Readex Pro"/>
              </a:defRPr>
            </a:pPr>
            <a:r>
              <a:rPr sz="3375" b="1" lang="ar-SA">
                <a:solidFill>
                  <a:srgbClr val="12183F"/>
                </a:solidFill>
                <a:latin typeface="Readex Pro"/>
                <a:ea typeface="Readex Pro"/>
                <a:cs typeface="Readex Pro"/>
              </a:rPr>
              <a:t>ضبط معرّفات الإحالات</a:t>
            </a:r>
          </a:p>
        </p:txBody>
      </p:sp>
      <p:sp>
        <p:nvSpPr>
          <p:cNvPr id="2" name="page">
            <a:extLst>
              <a:ext uri="{FF2B5EF4-FFF2-40B4-BE49-F238E27FC236}">
                <ns2:creationId id="{A08101D3-CA33-4F39-9036-21A028591F84}"/>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343B5C"/>
                </a:solidFill>
                <a:latin typeface="Readex Pro"/>
                <a:ea typeface="Readex Pro"/>
                <a:cs typeface="Readex Pro"/>
              </a:defRPr>
            </a:pPr>
            <a:r>
              <a:rPr sz="1350" b="0">
                <a:solidFill>
                  <a:srgbClr val="343B5C"/>
                </a:solidFill>
                <a:latin typeface="Readex Pro"/>
                <a:ea typeface="Readex Pro"/>
                <a:cs typeface="Readex Pro"/>
              </a:rPr>
              <a:t>04</a:t>
            </a:r>
          </a:p>
        </p:txBody>
      </p:sp>
      <p:sp>
        <p:nvSpPr>
          <p:cNvPr id="3" name="حزمة أدلة مرقمة أمام نموذج الإجابة">
            <a:extLst>
              <a:ext uri="{FF2B5EF4-FFF2-40B4-BE49-F238E27FC236}">
                <ns2:creationId id="{A9E14559-A4B8-4833-9AFE-A2B9B58DF1A6}"/>
              </a:ext>
            </a:extLst>
          </p:cNvPr>
          <p:cNvSpPr>
            <a:spLocks noGrp="1"/>
          </p:cNvSpPr>
          <p:nvPr/>
        </p:nvSpPr>
        <p:spPr>
          <a:xfrm>
            <a:off x="762000" y="1609725"/>
            <a:ext cx="10668000" cy="619125"/>
          </a:xfrm>
          <a:prstGeom prst="rect">
            <a:avLst/>
          </a:prstGeom>
          <a:noFill/>
          <a:ln w="0">
            <a:noFill/>
          </a:ln>
        </p:spPr>
        <p:txBody>
          <a:bodyPr wrap="none" lIns="0" tIns="0" rIns="0" bIns="0" anchor="t">
            <a:noAutofit/>
          </a:bodyPr>
          <a:lstStyle/>
          <a:p>
            <a:pPr algn="r" rtl="1">
              <a:defRPr sz="2700" b="1" lang="ar-SA">
                <a:solidFill>
                  <a:srgbClr val="6150EA"/>
                </a:solidFill>
                <a:latin typeface="Readex Pro"/>
                <a:ea typeface="Readex Pro"/>
                <a:cs typeface="Readex Pro"/>
              </a:defRPr>
            </a:pPr>
            <a:r>
              <a:rPr sz="2700" b="1" lang="ar-SA">
                <a:solidFill>
                  <a:srgbClr val="6150EA"/>
                </a:solidFill>
                <a:latin typeface="Readex Pro"/>
                <a:ea typeface="Readex Pro"/>
                <a:cs typeface="Readex Pro"/>
              </a:rPr>
              <a:t>حزمة أدلة مرقمة أمام نموذج الإجابة</a:t>
            </a:r>
          </a:p>
        </p:txBody>
      </p:sp>
      <p:sp>
        <p:nvSpPr>
          <p:cNvPr id="4" name="يستخدم النموذج أرقام المقاطع داخل ">
            <a:extLst>
              <a:ext uri="{FF2B5EF4-FFF2-40B4-BE49-F238E27FC236}">
                <ns2:creationId id="{141AA5B9-6A9C-410F-84F1-9D53B99C7DE0}"/>
              </a:ext>
            </a:extLst>
          </p:cNvPr>
          <p:cNvSpPr>
            <a:spLocks noGrp="1"/>
          </p:cNvSpPr>
          <p:nvPr/>
        </p:nvSpPr>
        <p:spPr>
          <a:xfrm>
            <a:off x="762000" y="2505075"/>
            <a:ext cx="10668000" cy="476250"/>
          </a:xfrm>
          <a:prstGeom prst="rect">
            <a:avLst/>
          </a:prstGeom>
          <a:noFill/>
          <a:ln w="0">
            <a:noFill/>
          </a:ln>
        </p:spPr>
        <p:txBody>
          <a:bodyPr wrap="none" lIns="0" tIns="0" rIns="0" bIns="0" anchor="t">
            <a:noAutofit/>
          </a:bodyPr>
          <a:lstStyle/>
          <a:p>
            <a:pPr algn="r" rtl="1">
              <a:defRPr sz="2250" b="0" lang="ar-SA">
                <a:solidFill>
                  <a:srgbClr val="12183F"/>
                </a:solidFill>
                <a:latin typeface="Readex Pro"/>
                <a:ea typeface="Readex Pro"/>
                <a:cs typeface="Readex Pro"/>
              </a:defRPr>
            </a:pPr>
            <a:r>
              <a:rPr sz="2250" b="0" lang="ar-SA">
                <a:solidFill>
                  <a:srgbClr val="12183F"/>
                </a:solidFill>
                <a:latin typeface="Readex Pro"/>
                <a:ea typeface="Readex Pro"/>
                <a:cs typeface="Readex Pro"/>
              </a:rPr>
              <a:t>يستخدم النموذج أرقام المقاطع داخل الإجابة.</a:t>
            </a:r>
          </a:p>
        </p:txBody>
      </p:sp>
      <p:sp>
        <p:nvSpPr>
          <p:cNvPr id="5" name="تحوّل الشفرة الرقم إلى معرّف المقط">
            <a:extLst>
              <a:ext uri="{FF2B5EF4-FFF2-40B4-BE49-F238E27FC236}">
                <ns2:creationId id="{7C73456A-83FC-4436-98FF-DC8384D5F2CA}"/>
              </a:ext>
            </a:extLst>
          </p:cNvPr>
          <p:cNvSpPr>
            <a:spLocks noGrp="1"/>
          </p:cNvSpPr>
          <p:nvPr/>
        </p:nvSpPr>
        <p:spPr>
          <a:xfrm>
            <a:off x="762000" y="3248025"/>
            <a:ext cx="10668000" cy="476250"/>
          </a:xfrm>
          <a:prstGeom prst="rect">
            <a:avLst/>
          </a:prstGeom>
          <a:noFill/>
          <a:ln w="0">
            <a:noFill/>
          </a:ln>
        </p:spPr>
        <p:txBody>
          <a:bodyPr wrap="none" lIns="0" tIns="0" rIns="0" bIns="0" anchor="t">
            <a:noAutofit/>
          </a:bodyPr>
          <a:lstStyle/>
          <a:p>
            <a:pPr algn="r" rtl="1">
              <a:defRPr sz="2250" b="0" lang="ar-SA">
                <a:solidFill>
                  <a:srgbClr val="12183F"/>
                </a:solidFill>
                <a:latin typeface="Readex Pro"/>
                <a:ea typeface="Readex Pro"/>
                <a:cs typeface="Readex Pro"/>
              </a:defRPr>
            </a:pPr>
            <a:r>
              <a:rPr sz="2250" b="0" lang="ar-SA">
                <a:solidFill>
                  <a:srgbClr val="12183F"/>
                </a:solidFill>
                <a:latin typeface="Readex Pro"/>
                <a:ea typeface="Readex Pro"/>
                <a:cs typeface="Readex Pro"/>
              </a:rPr>
              <a:t>تحوّل الشفرة الرقم إلى معرّف المقطع في الحزمة.</a:t>
            </a:r>
          </a:p>
        </p:txBody>
      </p:sp>
      <p:sp>
        <p:nvSpPr>
          <p:cNvPr id="6" name="تسقط الأرقام التي لا تطابق مقطعًا.">
            <a:extLst>
              <a:ext uri="{FF2B5EF4-FFF2-40B4-BE49-F238E27FC236}">
                <ns2:creationId id="{8679559C-7778-4E57-A644-9E419C002C6F}"/>
              </a:ext>
            </a:extLst>
          </p:cNvPr>
          <p:cNvSpPr>
            <a:spLocks noGrp="1"/>
          </p:cNvSpPr>
          <p:nvPr/>
        </p:nvSpPr>
        <p:spPr>
          <a:xfrm>
            <a:off x="762000" y="3990975"/>
            <a:ext cx="10668000" cy="476250"/>
          </a:xfrm>
          <a:prstGeom prst="rect">
            <a:avLst/>
          </a:prstGeom>
          <a:noFill/>
          <a:ln w="0">
            <a:noFill/>
          </a:ln>
        </p:spPr>
        <p:txBody>
          <a:bodyPr wrap="none" lIns="0" tIns="0" rIns="0" bIns="0" anchor="t">
            <a:noAutofit/>
          </a:bodyPr>
          <a:lstStyle/>
          <a:p>
            <a:pPr algn="r" rtl="1">
              <a:defRPr sz="2250" b="0" lang="ar-SA">
                <a:solidFill>
                  <a:srgbClr val="12183F"/>
                </a:solidFill>
                <a:latin typeface="Readex Pro"/>
                <a:ea typeface="Readex Pro"/>
                <a:cs typeface="Readex Pro"/>
              </a:defRPr>
            </a:pPr>
            <a:r>
              <a:rPr sz="2250" b="0" lang="ar-SA">
                <a:solidFill>
                  <a:srgbClr val="12183F"/>
                </a:solidFill>
                <a:latin typeface="Readex Pro"/>
                <a:ea typeface="Readex Pro"/>
                <a:cs typeface="Readex Pro"/>
              </a:rPr>
              <a:t>تسقط الأرقام التي لا تطابق مقطعًا.</a:t>
            </a:r>
          </a:p>
        </p:txBody>
      </p:sp>
      <p:sp>
        <p:nvSpPr>
          <p:cNvPr id="7" name="صحة المعرّف لا تثبت أن النص يسند ا">
            <a:extLst>
              <a:ext uri="{FF2B5EF4-FFF2-40B4-BE49-F238E27FC236}">
                <ns2:creationId id="{04BDC0B9-D3B5-46A7-8FA4-AD054E81F628}"/>
              </a:ext>
            </a:extLst>
          </p:cNvPr>
          <p:cNvSpPr>
            <a:spLocks noGrp="1"/>
          </p:cNvSpPr>
          <p:nvPr/>
        </p:nvSpPr>
        <p:spPr>
          <a:xfrm>
            <a:off x="762000" y="5133975"/>
            <a:ext cx="10668000" cy="666750"/>
          </a:xfrm>
          <a:prstGeom prst="rect">
            <a:avLst/>
          </a:prstGeom>
          <a:noFill/>
          <a:ln w="0">
            <a:noFill/>
          </a:ln>
        </p:spPr>
        <p:txBody>
          <a:bodyPr wrap="none" lIns="0" tIns="0" rIns="0" bIns="0" anchor="t">
            <a:noAutofit/>
          </a:bodyPr>
          <a:lstStyle/>
          <a:p>
            <a:pPr algn="r" rtl="1">
              <a:defRPr sz="2250" b="1" lang="ar-SA">
                <a:solidFill>
                  <a:srgbClr val="6150EA"/>
                </a:solidFill>
                <a:latin typeface="Readex Pro"/>
                <a:ea typeface="Readex Pro"/>
                <a:cs typeface="Readex Pro"/>
              </a:defRPr>
            </a:pPr>
            <a:r>
              <a:rPr sz="2250" b="1" lang="ar-SA">
                <a:solidFill>
                  <a:srgbClr val="6150EA"/>
                </a:solidFill>
                <a:latin typeface="Readex Pro"/>
                <a:ea typeface="Readex Pro"/>
                <a:cs typeface="Readex Pro"/>
              </a:rPr>
              <a:t>صحة المعرّف لا تثبت أن النص يسند الادعاء أو أن نسبته العلمية صحيحة.</a:t>
            </a:r>
          </a:p>
        </p:txBody>
      </p:sp>
    </p:spTree>
    <p:extLst>
      <p:ext uri="{BB962C8B-B14F-4D97-AF65-F5344CB8AC3E}">
        <ns3:creationId val="2090838915"/>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2F4FF"/>
        </a:solidFill>
      </p:bgPr>
    </p:bg>
    <p:spTree>
      <p:nvGrpSpPr>
        <p:cNvPr id="1" name=""/>
        <p:cNvGrpSpPr/>
        <p:nvPr/>
      </p:nvGrpSpPr>
      <p:grpSpPr>
        <a:xfrm/>
      </p:grpSpPr>
      <p:sp>
        <p:nvSpPr>
          <p:cNvPr id="10" name="نطاق الدراسة المرجعية">
            <a:extLst>
              <a:ext uri="{FF2B5EF4-FFF2-40B4-BE49-F238E27FC236}">
                <ns2:creationId id="{BEEA7804-6607-4D01-A92B-B3482FA92C67}"/>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12183F"/>
                </a:solidFill>
                <a:latin typeface="Readex Pro"/>
                <a:ea typeface="Readex Pro"/>
                <a:cs typeface="Readex Pro"/>
              </a:defRPr>
            </a:pPr>
            <a:r>
              <a:rPr sz="3375" b="1" lang="ar-SA">
                <a:solidFill>
                  <a:srgbClr val="12183F"/>
                </a:solidFill>
                <a:latin typeface="Readex Pro"/>
                <a:ea typeface="Readex Pro"/>
                <a:cs typeface="Readex Pro"/>
              </a:rPr>
              <a:t>نطاق الدراسة المرجعية</a:t>
            </a:r>
          </a:p>
        </p:txBody>
      </p:sp>
      <p:sp>
        <p:nvSpPr>
          <p:cNvPr id="2" name="page">
            <a:extLst>
              <a:ext uri="{FF2B5EF4-FFF2-40B4-BE49-F238E27FC236}">
                <ns2:creationId id="{E5E315C5-4DEC-4556-8444-6AB27D8ACA2E}"/>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343B5C"/>
                </a:solidFill>
                <a:latin typeface="Readex Pro"/>
                <a:ea typeface="Readex Pro"/>
                <a:cs typeface="Readex Pro"/>
              </a:defRPr>
            </a:pPr>
            <a:r>
              <a:rPr sz="1350" b="0">
                <a:solidFill>
                  <a:srgbClr val="343B5C"/>
                </a:solidFill>
                <a:latin typeface="Readex Pro"/>
                <a:ea typeface="Readex Pro"/>
                <a:cs typeface="Readex Pro"/>
              </a:rPr>
              <a:t>05</a:t>
            </a:r>
          </a:p>
        </p:txBody>
      </p:sp>
      <p:sp>
        <p:nvSpPr>
          <p:cNvPr id="3" name="٤٨ سؤالًا أوليًا، منها ٤٢ بالعربية">
            <a:extLst>
              <a:ext uri="{FF2B5EF4-FFF2-40B4-BE49-F238E27FC236}">
                <ns2:creationId id="{DDC158F3-2DA0-4EC8-AF8D-28FD187C58B9}"/>
              </a:ext>
            </a:extLst>
          </p:cNvPr>
          <p:cNvSpPr>
            <a:spLocks noGrp="1"/>
          </p:cNvSpPr>
          <p:nvPr/>
        </p:nvSpPr>
        <p:spPr>
          <a:xfrm>
            <a:off x="762000" y="1514475"/>
            <a:ext cx="10668000" cy="590550"/>
          </a:xfrm>
          <a:prstGeom prst="rect">
            <a:avLst/>
          </a:prstGeom>
          <a:noFill/>
          <a:ln w="0">
            <a:noFill/>
          </a:ln>
        </p:spPr>
        <p:txBody>
          <a:bodyPr wrap="none" lIns="0" tIns="0" rIns="0" bIns="0" anchor="t">
            <a:noAutofit/>
          </a:bodyPr>
          <a:lstStyle/>
          <a:p>
            <a:pPr algn="r" rtl="1">
              <a:defRPr sz="2700" b="1" lang="ar-SA">
                <a:solidFill>
                  <a:srgbClr val="6150EA"/>
                </a:solidFill>
                <a:latin typeface="Readex Pro"/>
                <a:ea typeface="Readex Pro"/>
                <a:cs typeface="Readex Pro"/>
              </a:defRPr>
            </a:pPr>
            <a:r>
              <a:rPr sz="2700" b="1" lang="ar-SA">
                <a:solidFill>
                  <a:srgbClr val="6150EA"/>
                </a:solidFill>
                <a:latin typeface="Readex Pro"/>
                <a:ea typeface="Readex Pro"/>
                <a:cs typeface="Readex Pro"/>
              </a:rPr>
              <a:t>٤٨ سؤالًا أوليًا، منها ٤٢ بالعربية</a:t>
            </a:r>
          </a:p>
        </p:txBody>
      </p:sp>
      <p:sp>
        <p:nvSpPr>
          <p:cNvPr id="4" name="نفس نموذج الإجابة ونفس توجيه الإنت">
            <a:extLst>
              <a:ext uri="{FF2B5EF4-FFF2-40B4-BE49-F238E27FC236}">
                <ns2:creationId id="{23DB0078-5CEB-407A-AFC6-CE2A21DAD7F0}"/>
              </a:ext>
            </a:extLst>
          </p:cNvPr>
          <p:cNvSpPr>
            <a:spLocks noGrp="1"/>
          </p:cNvSpPr>
          <p:nvPr/>
        </p:nvSpPr>
        <p:spPr>
          <a:xfrm>
            <a:off x="762000" y="2400300"/>
            <a:ext cx="10668000" cy="476250"/>
          </a:xfrm>
          <a:prstGeom prst="rect">
            <a:avLst/>
          </a:prstGeom>
          <a:noFill/>
          <a:ln w="0">
            <a:noFill/>
          </a:ln>
        </p:spPr>
        <p:txBody>
          <a:bodyPr wrap="none" lIns="0" tIns="0" rIns="0" bIns="0" anchor="t">
            <a:noAutofit/>
          </a:bodyPr>
          <a:lstStyle/>
          <a:p>
            <a:pPr algn="r" rtl="1">
              <a:defRPr sz="2250" b="1" lang="ar-SA">
                <a:solidFill>
                  <a:srgbClr val="12183F"/>
                </a:solidFill>
                <a:latin typeface="Readex Pro"/>
                <a:ea typeface="Readex Pro"/>
                <a:cs typeface="Readex Pro"/>
              </a:defRPr>
            </a:pPr>
            <a:r>
              <a:rPr sz="2250" b="1" lang="ar-SA">
                <a:solidFill>
                  <a:srgbClr val="12183F"/>
                </a:solidFill>
                <a:latin typeface="Readex Pro"/>
                <a:ea typeface="Readex Pro"/>
                <a:cs typeface="Readex Pro"/>
              </a:rPr>
              <a:t>نفس نموذج الإجابة ونفس توجيه الإنتاج في الطرفين</a:t>
            </a:r>
          </a:p>
        </p:txBody>
      </p:sp>
      <p:sp>
        <p:nvSpPr>
          <p:cNvPr id="5" name="Vertex gemini-3.7-flash">
            <a:extLst>
              <a:ext uri="{FF2B5EF4-FFF2-40B4-BE49-F238E27FC236}">
                <ns2:creationId id="{17C17DED-E4C6-430D-AF2C-C60DEB35DA90}"/>
              </a:ext>
            </a:extLst>
          </p:cNvPr>
          <p:cNvSpPr>
            <a:spLocks noGrp="1"/>
          </p:cNvSpPr>
          <p:nvPr/>
        </p:nvSpPr>
        <p:spPr>
          <a:xfrm>
            <a:off x="762000" y="2914650"/>
            <a:ext cx="10668000" cy="428625"/>
          </a:xfrm>
          <a:prstGeom prst="rect">
            <a:avLst/>
          </a:prstGeom>
          <a:noFill/>
          <a:ln w="0">
            <a:noFill/>
          </a:ln>
        </p:spPr>
        <p:txBody>
          <a:bodyPr wrap="none" lIns="0" tIns="0" rIns="0" bIns="0" anchor="t">
            <a:noAutofit/>
          </a:bodyPr>
          <a:lstStyle/>
          <a:p>
            <a:pPr algn="r">
              <a:defRPr sz="2100" b="0">
                <a:solidFill>
                  <a:srgbClr val="343B5C"/>
                </a:solidFill>
                <a:latin typeface="Readex Pro"/>
                <a:ea typeface="Readex Pro"/>
                <a:cs typeface="Readex Pro"/>
              </a:defRPr>
            </a:pPr>
            <a:r>
              <a:rPr sz="2100" b="0">
                <a:solidFill>
                  <a:srgbClr val="343B5C"/>
                </a:solidFill>
                <a:latin typeface="Readex Pro"/>
                <a:ea typeface="Readex Pro"/>
                <a:cs typeface="Readex Pro"/>
              </a:rPr>
              <a:t>Vertex gemini-3.7-flash</a:t>
            </a:r>
          </a:p>
        </p:txBody>
      </p:sp>
      <p:sp>
        <p:nvSpPr>
          <p:cNvPr id="6" name="تقييم جودة آلي مع إخفاء هوية الطرف">
            <a:extLst>
              <a:ext uri="{FF2B5EF4-FFF2-40B4-BE49-F238E27FC236}">
                <ns2:creationId id="{D18201DC-D8C7-461B-86D3-223768024396}"/>
              </a:ext>
            </a:extLst>
          </p:cNvPr>
          <p:cNvSpPr>
            <a:spLocks noGrp="1"/>
          </p:cNvSpPr>
          <p:nvPr/>
        </p:nvSpPr>
        <p:spPr>
          <a:xfrm>
            <a:off x="762000" y="3790950"/>
            <a:ext cx="10668000" cy="457200"/>
          </a:xfrm>
          <a:prstGeom prst="rect">
            <a:avLst/>
          </a:prstGeom>
          <a:noFill/>
          <a:ln w="0">
            <a:noFill/>
          </a:ln>
        </p:spPr>
        <p:txBody>
          <a:bodyPr wrap="none" lIns="0" tIns="0" rIns="0" bIns="0" anchor="t">
            <a:noAutofit/>
          </a:bodyPr>
          <a:lstStyle/>
          <a:p>
            <a:pPr algn="r" rtl="1">
              <a:defRPr sz="2175" b="0" lang="ar-SA">
                <a:solidFill>
                  <a:srgbClr val="12183F"/>
                </a:solidFill>
                <a:latin typeface="Readex Pro"/>
                <a:ea typeface="Readex Pro"/>
                <a:cs typeface="Readex Pro"/>
              </a:defRPr>
            </a:pPr>
            <a:r>
              <a:rPr sz="2175" b="0" lang="ar-SA">
                <a:solidFill>
                  <a:srgbClr val="12183F"/>
                </a:solidFill>
                <a:latin typeface="Readex Pro"/>
                <a:ea typeface="Readex Pro"/>
                <a:cs typeface="Readex Pro"/>
              </a:rPr>
              <a:t>تقييم جودة آلي مع إخفاء هوية الطرفين وتبديل ترتيب الإجابات</a:t>
            </a:r>
          </a:p>
        </p:txBody>
      </p:sp>
      <p:sp>
        <p:nvSpPr>
          <p:cNvPr id="7" name="Claude Opus يقارن الإجابات في التر">
            <a:extLst>
              <a:ext uri="{FF2B5EF4-FFF2-40B4-BE49-F238E27FC236}">
                <ns2:creationId id="{46B6686B-9FA9-4EF4-B23E-8C0CFA6344BB}"/>
              </a:ext>
            </a:extLst>
          </p:cNvPr>
          <p:cNvSpPr>
            <a:spLocks noGrp="1"/>
          </p:cNvSpPr>
          <p:nvPr/>
        </p:nvSpPr>
        <p:spPr>
          <a:xfrm>
            <a:off x="762000" y="4305300"/>
            <a:ext cx="10668000" cy="457200"/>
          </a:xfrm>
          <a:prstGeom prst="rect">
            <a:avLst/>
          </a:prstGeom>
          <a:noFill/>
          <a:ln w="0">
            <a:noFill/>
          </a:ln>
        </p:spPr>
        <p:txBody>
          <a:bodyPr wrap="none" lIns="0" tIns="0" rIns="0" bIns="0" anchor="t">
            <a:noAutofit/>
          </a:bodyPr>
          <a:lstStyle/>
          <a:p>
            <a:pPr algn="r" rtl="1">
              <a:defRPr sz="1950" b="0" lang="ar-SA">
                <a:solidFill>
                  <a:srgbClr val="343B5C"/>
                </a:solidFill>
                <a:latin typeface="Readex Pro"/>
                <a:ea typeface="Readex Pro"/>
                <a:cs typeface="Readex Pro"/>
              </a:defRPr>
            </a:pPr>
            <a:r>
              <a:rPr sz="1950" b="0" lang="ar-SA">
                <a:solidFill>
                  <a:srgbClr val="343B5C"/>
                </a:solidFill>
                <a:latin typeface="Readex Pro"/>
                <a:ea typeface="Readex Pro"/>
                <a:cs typeface="Readex Pro"/>
              </a:rPr>
              <a:t>Claude Opus يقارن الإجابات في الترتيبين، والخلاف يُحسب غير محسوم.</a:t>
            </a:r>
          </a:p>
        </p:txBody>
      </p:sp>
      <p:sp>
        <p:nvSpPr>
          <p:cNvPr id="8" name="تدقيق استناد على ١٨ إجابة لكل طرف،">
            <a:extLst>
              <a:ext uri="{FF2B5EF4-FFF2-40B4-BE49-F238E27FC236}">
                <ns2:creationId id="{67A80E76-D896-4129-A220-1C62ACD08C67}"/>
              </a:ext>
            </a:extLst>
          </p:cNvPr>
          <p:cNvSpPr>
            <a:spLocks noGrp="1"/>
          </p:cNvSpPr>
          <p:nvPr/>
        </p:nvSpPr>
        <p:spPr>
          <a:xfrm>
            <a:off x="762000" y="5124450"/>
            <a:ext cx="10668000" cy="457200"/>
          </a:xfrm>
          <a:prstGeom prst="rect">
            <a:avLst/>
          </a:prstGeom>
          <a:noFill/>
          <a:ln w="0">
            <a:noFill/>
          </a:ln>
        </p:spPr>
        <p:txBody>
          <a:bodyPr wrap="none" lIns="0" tIns="0" rIns="0" bIns="0" anchor="t">
            <a:noAutofit/>
          </a:bodyPr>
          <a:lstStyle/>
          <a:p>
            <a:pPr algn="r" rtl="1">
              <a:defRPr sz="2025" b="0" lang="ar-SA">
                <a:solidFill>
                  <a:srgbClr val="12183F"/>
                </a:solidFill>
                <a:latin typeface="Readex Pro"/>
                <a:ea typeface="Readex Pro"/>
                <a:cs typeface="Readex Pro"/>
              </a:defRPr>
            </a:pPr>
            <a:r>
              <a:rPr sz="2025" b="0" lang="ar-SA">
                <a:solidFill>
                  <a:srgbClr val="12183F"/>
                </a:solidFill>
                <a:latin typeface="Readex Pro"/>
                <a:ea typeface="Readex Pro"/>
                <a:cs typeface="Readex Pro"/>
              </a:rPr>
              <a:t>تدقيق استناد على ١٨ إجابة لكل طرف، وبحد أقصى ١٢ ادعاءً للإجابة.</a:t>
            </a:r>
          </a:p>
        </p:txBody>
      </p:sp>
      <p:sp>
        <p:nvSpPr>
          <p:cNvPr id="9" name="دراسة سابقة بتاريخ ١٧ سبتمبر ٢٠٢٦.">
            <a:extLst>
              <a:ext uri="{FF2B5EF4-FFF2-40B4-BE49-F238E27FC236}">
                <ns2:creationId id="{FB818C8E-34D9-45D0-9C58-8A127A384F52}"/>
              </a:ext>
            </a:extLst>
          </p:cNvPr>
          <p:cNvSpPr>
            <a:spLocks noGrp="1"/>
          </p:cNvSpPr>
          <p:nvPr/>
        </p:nvSpPr>
        <p:spPr>
          <a:xfrm>
            <a:off x="762000" y="5791200"/>
            <a:ext cx="10668000" cy="381000"/>
          </a:xfrm>
          <a:prstGeom prst="rect">
            <a:avLst/>
          </a:prstGeom>
          <a:noFill/>
          <a:ln w="0">
            <a:noFill/>
          </a:ln>
        </p:spPr>
        <p:txBody>
          <a:bodyPr wrap="none" lIns="0" tIns="0" rIns="0" bIns="0" anchor="t">
            <a:noAutofit/>
          </a:bodyPr>
          <a:lstStyle/>
          <a:p>
            <a:pPr algn="r" rtl="1">
              <a:defRPr sz="1725" b="0" lang="ar-SA">
                <a:solidFill>
                  <a:srgbClr val="343B5C"/>
                </a:solidFill>
                <a:latin typeface="Readex Pro"/>
                <a:ea typeface="Readex Pro"/>
                <a:cs typeface="Readex Pro"/>
              </a:defRPr>
            </a:pPr>
            <a:r>
              <a:rPr sz="1725" b="0" lang="ar-SA">
                <a:solidFill>
                  <a:srgbClr val="343B5C"/>
                </a:solidFill>
                <a:latin typeface="Readex Pro"/>
                <a:ea typeface="Readex Pro"/>
                <a:cs typeface="Readex Pro"/>
              </a:rPr>
              <a:t>دراسة سابقة بتاريخ ١٧ سبتمبر ٢٠٢٦. النتائج مرتبطة بالعينة والإعداد المقاس.</a:t>
            </a:r>
          </a:p>
        </p:txBody>
      </p:sp>
    </p:spTree>
    <p:extLst>
      <p:ext uri="{BB962C8B-B14F-4D97-AF65-F5344CB8AC3E}">
        <ns3:creationId val="146471923"/>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2F4FF"/>
        </a:solidFill>
      </p:bgPr>
    </p:bg>
    <p:spTree>
      <p:nvGrpSpPr>
        <p:cNvPr id="1" name=""/>
        <p:cNvGrpSpPr/>
        <p:nvPr/>
      </p:nvGrpSpPr>
      <p:grpSpPr>
        <a:xfrm/>
      </p:grpSpPr>
      <p:sp>
        <p:nvSpPr>
          <p:cNvPr id="8" name="الكلفة والزمن في العينة">
            <a:extLst>
              <a:ext uri="{FF2B5EF4-FFF2-40B4-BE49-F238E27FC236}">
                <ns2:creationId id="{5A4F801C-B327-4D6B-B48F-B71AB1C6B466}"/>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12183F"/>
                </a:solidFill>
                <a:latin typeface="Readex Pro"/>
                <a:ea typeface="Readex Pro"/>
                <a:cs typeface="Readex Pro"/>
              </a:defRPr>
            </a:pPr>
            <a:r>
              <a:rPr sz="3375" b="1" lang="ar-SA">
                <a:solidFill>
                  <a:srgbClr val="12183F"/>
                </a:solidFill>
                <a:latin typeface="Readex Pro"/>
                <a:ea typeface="Readex Pro"/>
                <a:cs typeface="Readex Pro"/>
              </a:rPr>
              <a:t>الكلفة والزمن في العينة</a:t>
            </a:r>
          </a:p>
        </p:txBody>
      </p:sp>
      <p:sp>
        <p:nvSpPr>
          <p:cNvPr id="2" name="page">
            <a:extLst>
              <a:ext uri="{FF2B5EF4-FFF2-40B4-BE49-F238E27FC236}">
                <ns2:creationId id="{8A9FB98B-04D4-499B-BA08-CE940C38741A}"/>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343B5C"/>
                </a:solidFill>
                <a:latin typeface="Readex Pro"/>
                <a:ea typeface="Readex Pro"/>
                <a:cs typeface="Readex Pro"/>
              </a:defRPr>
            </a:pPr>
            <a:r>
              <a:rPr sz="1350" b="0">
                <a:solidFill>
                  <a:srgbClr val="343B5C"/>
                </a:solidFill>
                <a:latin typeface="Readex Pro"/>
                <a:ea typeface="Readex Pro"/>
                <a:cs typeface="Readex Pro"/>
              </a:rPr>
              <a:t>06</a:t>
            </a:r>
          </a:p>
        </p:txBody>
      </p:sp>
      <p:sp>
        <p:nvSpPr>
          <p:cNvPr id="3" name="نحو ٤٠٪ أقل في متوسط الكلفة">
            <a:extLst>
              <a:ext uri="{FF2B5EF4-FFF2-40B4-BE49-F238E27FC236}">
                <ns2:creationId id="{278A2D3C-7C46-45A3-BBF9-7B11D3798AE2}"/>
              </a:ext>
            </a:extLst>
          </p:cNvPr>
          <p:cNvSpPr>
            <a:spLocks noGrp="1"/>
          </p:cNvSpPr>
          <p:nvPr/>
        </p:nvSpPr>
        <p:spPr>
          <a:xfrm>
            <a:off x="762000" y="1457325"/>
            <a:ext cx="10668000" cy="590550"/>
          </a:xfrm>
          <a:prstGeom prst="rect">
            <a:avLst/>
          </a:prstGeom>
          <a:noFill/>
          <a:ln w="0">
            <a:noFill/>
          </a:ln>
        </p:spPr>
        <p:txBody>
          <a:bodyPr wrap="none" lIns="0" tIns="0" rIns="0" bIns="0" anchor="t">
            <a:noAutofit/>
          </a:bodyPr>
          <a:lstStyle/>
          <a:p>
            <a:pPr algn="r" rtl="1">
              <a:defRPr sz="2775" b="1" lang="ar-SA">
                <a:solidFill>
                  <a:srgbClr val="6150EA"/>
                </a:solidFill>
                <a:latin typeface="Readex Pro"/>
                <a:ea typeface="Readex Pro"/>
                <a:cs typeface="Readex Pro"/>
              </a:defRPr>
            </a:pPr>
            <a:r>
              <a:rPr sz="2775" b="1" lang="ar-SA">
                <a:solidFill>
                  <a:srgbClr val="6150EA"/>
                </a:solidFill>
                <a:latin typeface="Readex Pro"/>
                <a:ea typeface="Readex Pro"/>
                <a:cs typeface="Readex Pro"/>
              </a:rPr>
              <a:t>نحو ٤٠٪ أقل في متوسط الكلفة</a:t>
            </a:r>
          </a:p>
        </p:txBody>
      </p:sp>
      <p:graphicFrame>
        <p:nvGraphicFramePr>
          <p:cNvPr id="11" name=""/>
          <p:cNvGraphicFramePr/>
          <p:nvPr/>
        </p:nvGraphicFramePr>
        <p:xfrm>
          <a:off x="762000" y="2333625"/>
          <a:ext cx="10668000" cy="2752725"/>
        </p:xfrm>
        <a:graphic>
          <a:graphicData uri="http://schemas.openxmlformats.org/drawingml/2006/table">
            <a:tbl>
              <a:tblPr firstRow="0" bandRow="0"/>
              <a:tblGrid>
                <a:gridCol w="2381250"/>
                <a:gridCol w="2476500"/>
                <a:gridCol w="5810250"/>
              </a:tblGrid>
              <a:tr h="688181">
                <a:tc>
                  <a:txBody>
                    <a:bodyPr lIns="171450" tIns="142875" rIns="171450" bIns="142875">
                      <a:noAutofit/>
                    </a:bodyPr>
                    <a:lstStyle/>
                    <a:p>
                      <a:pPr algn="ctr"/>
                      <a:r>
                        <a:rPr sz="1875" b="1">
                          <a:solidFill>
                            <a:srgbClr val="FFFFFF"/>
                          </a:solidFill>
                          <a:latin typeface="Readex Pro"/>
                          <a:ea typeface="Readex Pro"/>
                          <a:cs typeface="Readex Pro"/>
                        </a:rPr>
                        <a:t>Jev</a:t>
                      </a:r>
                    </a:p>
                  </a:txBody>
                  <a:tcPr marL="91440" marR="91440" marT="45720" marB="45720" anchor="ctr">
                    <a:solidFill>
                      <a:srgbClr val="12183F"/>
                    </a:solidFill>
                  </a:tcPr>
                </a:tc>
                <a:tc>
                  <a:txBody>
                    <a:bodyPr lIns="171450" tIns="142875" rIns="171450" bIns="142875">
                      <a:noAutofit/>
                    </a:bodyPr>
                    <a:lstStyle/>
                    <a:p>
                      <a:pPr algn="ctr" rtl="1"/>
                      <a:r>
                        <a:rPr sz="1875" b="1" lang="ar-SA">
                          <a:solidFill>
                            <a:srgbClr val="FFFFFF"/>
                          </a:solidFill>
                          <a:latin typeface="Readex Pro"/>
                          <a:ea typeface="Readex Pro"/>
                          <a:cs typeface="Readex Pro"/>
                        </a:rPr>
                        <a:t>قاف في المقارنة</a:t>
                      </a:r>
                    </a:p>
                  </a:txBody>
                  <a:tcPr marL="91440" marR="91440" marT="45720" marB="45720" anchor="ctr">
                    <a:solidFill>
                      <a:srgbClr val="12183F"/>
                    </a:solidFill>
                  </a:tcPr>
                </a:tc>
                <a:tc>
                  <a:txBody>
                    <a:bodyPr lIns="171450" tIns="142875" rIns="171450" bIns="142875">
                      <a:noAutofit/>
                    </a:bodyPr>
                    <a:lstStyle/>
                    <a:p>
                      <a:pPr algn="r" rtl="1"/>
                      <a:r>
                        <a:rPr sz="1875" b="1" lang="ar-SA">
                          <a:solidFill>
                            <a:srgbClr val="FFFFFF"/>
                          </a:solidFill>
                          <a:latin typeface="Readex Pro"/>
                          <a:ea typeface="Readex Pro"/>
                          <a:cs typeface="Readex Pro"/>
                        </a:rPr>
                        <a:t>المقياس</a:t>
                      </a:r>
                    </a:p>
                  </a:txBody>
                  <a:tcPr marL="91440" marR="91440" marT="45720" marB="45720" anchor="ctr">
                    <a:solidFill>
                      <a:srgbClr val="12183F"/>
                    </a:solidFill>
                  </a:tcPr>
                </a:tc>
              </a:tr>
              <a:tr h="688181">
                <a:tc>
                  <a:txBody>
                    <a:bodyPr lIns="171450" tIns="142875" rIns="171450" bIns="142875">
                      <a:noAutofit/>
                    </a:bodyPr>
                    <a:lstStyle/>
                    <a:p>
                      <a:pPr algn="ctr"/>
                      <a:r>
                        <a:rPr sz="2100" b="0">
                          <a:solidFill>
                            <a:srgbClr val="12183F"/>
                          </a:solidFill>
                          <a:latin typeface="Readex Pro"/>
                          <a:ea typeface="Readex Pro"/>
                          <a:cs typeface="Readex Pro"/>
                        </a:rPr>
                        <a:t>$0.0251</a:t>
                      </a:r>
                    </a:p>
                  </a:txBody>
                  <a:tcPr marL="91440" marR="91440" marT="45720" marB="45720" anchor="ctr">
                    <a:solidFill>
                      <a:srgbClr val="F2F4FF"/>
                    </a:solidFill>
                  </a:tcPr>
                </a:tc>
                <a:tc>
                  <a:txBody>
                    <a:bodyPr lIns="171450" tIns="142875" rIns="171450" bIns="142875">
                      <a:noAutofit/>
                    </a:bodyPr>
                    <a:lstStyle/>
                    <a:p>
                      <a:pPr algn="ctr"/>
                      <a:r>
                        <a:rPr sz="2100" b="0">
                          <a:solidFill>
                            <a:srgbClr val="12183F"/>
                          </a:solidFill>
                          <a:latin typeface="Readex Pro"/>
                          <a:ea typeface="Readex Pro"/>
                          <a:cs typeface="Readex Pro"/>
                        </a:rPr>
                        <a:t>$0.0420</a:t>
                      </a:r>
                    </a:p>
                  </a:txBody>
                  <a:tcPr marL="91440" marR="91440" marT="45720" marB="45720" anchor="ctr">
                    <a:solidFill>
                      <a:srgbClr val="F2F4FF"/>
                    </a:solidFill>
                  </a:tcPr>
                </a:tc>
                <a:tc>
                  <a:txBody>
                    <a:bodyPr lIns="171450" tIns="142875" rIns="171450" bIns="142875">
                      <a:noAutofit/>
                    </a:bodyPr>
                    <a:lstStyle/>
                    <a:p>
                      <a:pPr algn="r" rtl="1"/>
                      <a:r>
                        <a:rPr sz="2100" b="0" lang="ar-SA">
                          <a:solidFill>
                            <a:srgbClr val="12183F"/>
                          </a:solidFill>
                          <a:latin typeface="Readex Pro"/>
                          <a:ea typeface="Readex Pro"/>
                          <a:cs typeface="Readex Pro"/>
                        </a:rPr>
                        <a:t>متوسط الكلفة لكل سؤال</a:t>
                      </a:r>
                    </a:p>
                  </a:txBody>
                  <a:tcPr marL="91440" marR="91440" marT="45720" marB="45720" anchor="ctr">
                    <a:solidFill>
                      <a:srgbClr val="F2F4FF"/>
                    </a:solidFill>
                  </a:tcPr>
                </a:tc>
              </a:tr>
              <a:tr h="688181">
                <a:tc>
                  <a:txBody>
                    <a:bodyPr lIns="171450" tIns="142875" rIns="171450" bIns="142875">
                      <a:noAutofit/>
                    </a:bodyPr>
                    <a:lstStyle/>
                    <a:p>
                      <a:pPr algn="ctr"/>
                      <a:r>
                        <a:rPr sz="2100" b="0">
                          <a:solidFill>
                            <a:srgbClr val="12183F"/>
                          </a:solidFill>
                          <a:latin typeface="Readex Pro"/>
                          <a:ea typeface="Readex Pro"/>
                          <a:cs typeface="Readex Pro"/>
                        </a:rPr>
                        <a:t>9.65 s</a:t>
                      </a:r>
                    </a:p>
                  </a:txBody>
                  <a:tcPr marL="91440" marR="91440" marT="45720" marB="45720" anchor="ctr">
                    <a:solidFill>
                      <a:srgbClr val="F2F4FF"/>
                    </a:solidFill>
                  </a:tcPr>
                </a:tc>
                <a:tc>
                  <a:txBody>
                    <a:bodyPr lIns="171450" tIns="142875" rIns="171450" bIns="142875">
                      <a:noAutofit/>
                    </a:bodyPr>
                    <a:lstStyle/>
                    <a:p>
                      <a:pPr algn="ctr"/>
                      <a:r>
                        <a:rPr sz="2100" b="0">
                          <a:solidFill>
                            <a:srgbClr val="12183F"/>
                          </a:solidFill>
                          <a:latin typeface="Readex Pro"/>
                          <a:ea typeface="Readex Pro"/>
                          <a:cs typeface="Readex Pro"/>
                        </a:rPr>
                        <a:t>13.05 s</a:t>
                      </a:r>
                    </a:p>
                  </a:txBody>
                  <a:tcPr marL="91440" marR="91440" marT="45720" marB="45720" anchor="ctr">
                    <a:solidFill>
                      <a:srgbClr val="F2F4FF"/>
                    </a:solidFill>
                  </a:tcPr>
                </a:tc>
                <a:tc>
                  <a:txBody>
                    <a:bodyPr lIns="171450" tIns="142875" rIns="171450" bIns="142875">
                      <a:noAutofit/>
                    </a:bodyPr>
                    <a:lstStyle/>
                    <a:p>
                      <a:pPr algn="r" rtl="1"/>
                      <a:r>
                        <a:rPr sz="2100" b="0" lang="ar-SA">
                          <a:solidFill>
                            <a:srgbClr val="12183F"/>
                          </a:solidFill>
                          <a:latin typeface="Readex Pro"/>
                          <a:ea typeface="Readex Pro"/>
                          <a:cs typeface="Readex Pro"/>
                        </a:rPr>
                        <a:t>وسيط بدء نص الإجابة</a:t>
                      </a:r>
                    </a:p>
                  </a:txBody>
                  <a:tcPr marL="91440" marR="91440" marT="45720" marB="45720" anchor="ctr">
                    <a:solidFill>
                      <a:srgbClr val="F2F4FF"/>
                    </a:solidFill>
                  </a:tcPr>
                </a:tc>
              </a:tr>
              <a:tr h="688181">
                <a:tc>
                  <a:txBody>
                    <a:bodyPr lIns="171450" tIns="142875" rIns="171450" bIns="142875">
                      <a:noAutofit/>
                    </a:bodyPr>
                    <a:lstStyle/>
                    <a:p>
                      <a:pPr algn="ctr"/>
                      <a:r>
                        <a:rPr sz="2100" b="0">
                          <a:solidFill>
                            <a:srgbClr val="12183F"/>
                          </a:solidFill>
                          <a:latin typeface="Readex Pro"/>
                          <a:ea typeface="Readex Pro"/>
                          <a:cs typeface="Readex Pro"/>
                        </a:rPr>
                        <a:t>14.96 s</a:t>
                      </a:r>
                    </a:p>
                  </a:txBody>
                  <a:tcPr marL="91440" marR="91440" marT="45720" marB="45720" anchor="ctr">
                    <a:solidFill>
                      <a:srgbClr val="F2F4FF"/>
                    </a:solidFill>
                  </a:tcPr>
                </a:tc>
                <a:tc>
                  <a:txBody>
                    <a:bodyPr lIns="171450" tIns="142875" rIns="171450" bIns="142875">
                      <a:noAutofit/>
                    </a:bodyPr>
                    <a:lstStyle/>
                    <a:p>
                      <a:pPr algn="ctr"/>
                      <a:r>
                        <a:rPr sz="2100" b="0">
                          <a:solidFill>
                            <a:srgbClr val="12183F"/>
                          </a:solidFill>
                          <a:latin typeface="Readex Pro"/>
                          <a:ea typeface="Readex Pro"/>
                          <a:cs typeface="Readex Pro"/>
                        </a:rPr>
                        <a:t>26.43 s</a:t>
                      </a:r>
                    </a:p>
                  </a:txBody>
                  <a:tcPr marL="91440" marR="91440" marT="45720" marB="45720" anchor="ctr">
                    <a:solidFill>
                      <a:srgbClr val="F2F4FF"/>
                    </a:solidFill>
                  </a:tcPr>
                </a:tc>
                <a:tc>
                  <a:txBody>
                    <a:bodyPr lIns="171450" tIns="142875" rIns="171450" bIns="142875">
                      <a:noAutofit/>
                    </a:bodyPr>
                    <a:lstStyle/>
                    <a:p>
                      <a:pPr algn="r" rtl="1"/>
                      <a:r>
                        <a:rPr sz="2100" b="0" lang="ar-SA">
                          <a:solidFill>
                            <a:srgbClr val="12183F"/>
                          </a:solidFill>
                          <a:latin typeface="Readex Pro"/>
                          <a:ea typeface="Readex Pro"/>
                          <a:cs typeface="Readex Pro"/>
                        </a:rPr>
                        <a:t>وسيط اكتمال الإجابة</a:t>
                      </a:r>
                    </a:p>
                  </a:txBody>
                  <a:tcPr marL="91440" marR="91440" marT="45720" marB="45720" anchor="ctr">
                    <a:solidFill>
                      <a:srgbClr val="F2F4FF"/>
                    </a:solidFill>
                  </a:tcPr>
                </a:tc>
              </a:tr>
            </a:tbl>
          </a:graphicData>
        </a:graphic>
      </p:graphicFrame>
      <p:sp>
        <p:nvSpPr>
          <p:cNvPr id="5" name="Gemini بتفكير متوسط في قاف ومنخفض ">
            <a:extLst>
              <a:ext uri="{FF2B5EF4-FFF2-40B4-BE49-F238E27FC236}">
                <ns2:creationId id="{A2116F4B-B318-41F2-98F5-F41A7339A25F}"/>
              </a:ext>
            </a:extLst>
          </p:cNvPr>
          <p:cNvSpPr>
            <a:spLocks noGrp="1"/>
          </p:cNvSpPr>
          <p:nvPr/>
        </p:nvSpPr>
        <p:spPr>
          <a:xfrm>
            <a:off x="762000" y="5314950"/>
            <a:ext cx="10668000" cy="361950"/>
          </a:xfrm>
          <a:prstGeom prst="rect">
            <a:avLst/>
          </a:prstGeom>
          <a:noFill/>
          <a:ln w="0">
            <a:noFill/>
          </a:ln>
        </p:spPr>
        <p:txBody>
          <a:bodyPr wrap="none" lIns="0" tIns="0" rIns="0" bIns="0" anchor="t">
            <a:noAutofit/>
          </a:bodyPr>
          <a:lstStyle/>
          <a:p>
            <a:pPr algn="r" rtl="1">
              <a:defRPr sz="1725" b="0" lang="ar-SA">
                <a:solidFill>
                  <a:srgbClr val="343B5C"/>
                </a:solidFill>
                <a:latin typeface="Readex Pro"/>
                <a:ea typeface="Readex Pro"/>
                <a:cs typeface="Readex Pro"/>
              </a:defRPr>
            </a:pPr>
            <a:r>
              <a:rPr sz="1725" b="0" lang="ar-SA">
                <a:solidFill>
                  <a:srgbClr val="343B5C"/>
                </a:solidFill>
                <a:latin typeface="Readex Pro"/>
                <a:ea typeface="Readex Pro"/>
                <a:cs typeface="Readex Pro"/>
              </a:rPr>
              <a:t>Gemini بتفكير متوسط في قاف ومنخفض في مسار Jev.</a:t>
            </a:r>
          </a:p>
        </p:txBody>
      </p:sp>
      <p:sp>
        <p:nvSpPr>
          <p:cNvPr id="6" name="أسعار قائمة دون كلفة embeddings، و">
            <a:extLst>
              <a:ext uri="{FF2B5EF4-FFF2-40B4-BE49-F238E27FC236}">
                <ns2:creationId id="{9E110ADA-CDC0-4E92-A386-7386071A7B8B}"/>
              </a:ext>
            </a:extLst>
          </p:cNvPr>
          <p:cNvSpPr>
            <a:spLocks noGrp="1"/>
          </p:cNvSpPr>
          <p:nvPr/>
        </p:nvSpPr>
        <p:spPr>
          <a:xfrm>
            <a:off x="762000" y="5619750"/>
            <a:ext cx="10668000" cy="361950"/>
          </a:xfrm>
          <a:prstGeom prst="rect">
            <a:avLst/>
          </a:prstGeom>
          <a:noFill/>
          <a:ln w="0">
            <a:noFill/>
          </a:ln>
        </p:spPr>
        <p:txBody>
          <a:bodyPr wrap="none" lIns="0" tIns="0" rIns="0" bIns="0" anchor="t">
            <a:noAutofit/>
          </a:bodyPr>
          <a:lstStyle/>
          <a:p>
            <a:pPr algn="r" rtl="1">
              <a:defRPr sz="1725" b="0" lang="ar-SA">
                <a:solidFill>
                  <a:srgbClr val="343B5C"/>
                </a:solidFill>
                <a:latin typeface="Readex Pro"/>
                <a:ea typeface="Readex Pro"/>
                <a:cs typeface="Readex Pro"/>
              </a:defRPr>
            </a:pPr>
            <a:r>
              <a:rPr sz="1725" b="0" lang="ar-SA">
                <a:solidFill>
                  <a:srgbClr val="343B5C"/>
                </a:solidFill>
                <a:latin typeface="Readex Pro"/>
                <a:ea typeface="Readex Pro"/>
                <a:cs typeface="Readex Pro"/>
              </a:rPr>
              <a:t>أسعار قائمة دون كلفة embeddings، والعينة ٤٨ سؤالًا.</a:t>
            </a:r>
          </a:p>
        </p:txBody>
      </p:sp>
      <p:sp>
        <p:nvSpPr>
          <p:cNvPr id="7" name="بدء النص يقيس أول كلام مقروء من ال">
            <a:extLst>
              <a:ext uri="{FF2B5EF4-FFF2-40B4-BE49-F238E27FC236}">
                <ns2:creationId id="{C33D8221-73A0-4EE7-AFE7-255716480BC5}"/>
              </a:ext>
            </a:extLst>
          </p:cNvPr>
          <p:cNvSpPr>
            <a:spLocks noGrp="1"/>
          </p:cNvSpPr>
          <p:nvPr/>
        </p:nvSpPr>
        <p:spPr>
          <a:xfrm>
            <a:off x="762000" y="5924550"/>
            <a:ext cx="10668000" cy="361950"/>
          </a:xfrm>
          <a:prstGeom prst="rect">
            <a:avLst/>
          </a:prstGeom>
          <a:noFill/>
          <a:ln w="0">
            <a:noFill/>
          </a:ln>
        </p:spPr>
        <p:txBody>
          <a:bodyPr wrap="none" lIns="0" tIns="0" rIns="0" bIns="0" anchor="t">
            <a:noAutofit/>
          </a:bodyPr>
          <a:lstStyle/>
          <a:p>
            <a:pPr algn="r" rtl="1">
              <a:defRPr sz="1725" b="0" lang="ar-SA">
                <a:solidFill>
                  <a:srgbClr val="343B5C"/>
                </a:solidFill>
                <a:latin typeface="Readex Pro"/>
                <a:ea typeface="Readex Pro"/>
                <a:cs typeface="Readex Pro"/>
              </a:defRPr>
            </a:pPr>
            <a:r>
              <a:rPr sz="1725" b="0" lang="ar-SA">
                <a:solidFill>
                  <a:srgbClr val="343B5C"/>
                </a:solidFill>
                <a:latin typeface="Readex Pro"/>
                <a:ea typeface="Readex Pro"/>
                <a:cs typeface="Readex Pro"/>
              </a:rPr>
              <a:t>بدء النص يقيس أول كلام مقروء من الإجابة، وليس رسالة حالة.</a:t>
            </a:r>
          </a:p>
        </p:txBody>
      </p:sp>
    </p:spTree>
    <p:extLst>
      <p:ext uri="{BB962C8B-B14F-4D97-AF65-F5344CB8AC3E}">
        <ns3:creationId val="1215356024"/>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2F4FF"/>
        </a:solidFill>
      </p:bgPr>
    </p:bg>
    <p:spTree>
      <p:nvGrpSpPr>
        <p:cNvPr id="1" name=""/>
        <p:cNvGrpSpPr/>
        <p:nvPr/>
      </p:nvGrpSpPr>
      <p:grpSpPr>
        <a:xfrm/>
      </p:grpSpPr>
      <p:sp>
        <p:nvSpPr>
          <p:cNvPr id="7" name="الجودة لم تُحسم بهذه العينة">
            <a:extLst>
              <a:ext uri="{FF2B5EF4-FFF2-40B4-BE49-F238E27FC236}">
                <ns2:creationId id="{8697F261-92C9-4FA6-A37A-B513CA9EED89}"/>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12183F"/>
                </a:solidFill>
                <a:latin typeface="Readex Pro"/>
                <a:ea typeface="Readex Pro"/>
                <a:cs typeface="Readex Pro"/>
              </a:defRPr>
            </a:pPr>
            <a:r>
              <a:rPr sz="3375" b="1" lang="ar-SA">
                <a:solidFill>
                  <a:srgbClr val="12183F"/>
                </a:solidFill>
                <a:latin typeface="Readex Pro"/>
                <a:ea typeface="Readex Pro"/>
                <a:cs typeface="Readex Pro"/>
              </a:rPr>
              <a:t>الجودة لم تُحسم بهذه العينة</a:t>
            </a:r>
          </a:p>
        </p:txBody>
      </p:sp>
      <p:sp>
        <p:nvSpPr>
          <p:cNvPr id="2" name="page">
            <a:extLst>
              <a:ext uri="{FF2B5EF4-FFF2-40B4-BE49-F238E27FC236}">
                <ns2:creationId id="{E32D4DA9-7288-423D-8DB0-DBF2D446971F}"/>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343B5C"/>
                </a:solidFill>
                <a:latin typeface="Readex Pro"/>
                <a:ea typeface="Readex Pro"/>
                <a:cs typeface="Readex Pro"/>
              </a:defRPr>
            </a:pPr>
            <a:r>
              <a:rPr sz="1350" b="0">
                <a:solidFill>
                  <a:srgbClr val="343B5C"/>
                </a:solidFill>
                <a:latin typeface="Readex Pro"/>
                <a:ea typeface="Readex Pro"/>
                <a:cs typeface="Readex Pro"/>
              </a:rPr>
              <a:t>07</a:t>
            </a:r>
          </a:p>
        </p:txBody>
      </p:sp>
      <p:sp>
        <p:nvSpPr>
          <p:cNvPr id="3" name="تقييم ٤٨ زوجًا من الإجابات">
            <a:extLst>
              <a:ext uri="{FF2B5EF4-FFF2-40B4-BE49-F238E27FC236}">
                <ns2:creationId id="{6C93D664-A7BA-40EA-9164-F8440EA6CBC3}"/>
              </a:ext>
            </a:extLst>
          </p:cNvPr>
          <p:cNvSpPr>
            <a:spLocks noGrp="1"/>
          </p:cNvSpPr>
          <p:nvPr/>
        </p:nvSpPr>
        <p:spPr>
          <a:xfrm>
            <a:off x="762000" y="1447800"/>
            <a:ext cx="10668000" cy="495300"/>
          </a:xfrm>
          <a:prstGeom prst="rect">
            <a:avLst/>
          </a:prstGeom>
          <a:noFill/>
          <a:ln w="0">
            <a:noFill/>
          </a:ln>
        </p:spPr>
        <p:txBody>
          <a:bodyPr wrap="none" lIns="0" tIns="0" rIns="0" bIns="0" anchor="t">
            <a:noAutofit/>
          </a:bodyPr>
          <a:lstStyle/>
          <a:p>
            <a:pPr algn="r" rtl="1">
              <a:defRPr sz="2250" b="1" lang="ar-SA">
                <a:solidFill>
                  <a:srgbClr val="6150EA"/>
                </a:solidFill>
                <a:latin typeface="Readex Pro"/>
                <a:ea typeface="Readex Pro"/>
                <a:cs typeface="Readex Pro"/>
              </a:defRPr>
            </a:pPr>
            <a:r>
              <a:rPr sz="2250" b="1" lang="ar-SA">
                <a:solidFill>
                  <a:srgbClr val="6150EA"/>
                </a:solidFill>
                <a:latin typeface="Readex Pro"/>
                <a:ea typeface="Readex Pro"/>
                <a:cs typeface="Readex Pro"/>
              </a:rPr>
              <a:t>تقييم ٤٨ زوجًا من الإجابات</a:t>
            </a:r>
          </a:p>
        </p:txBody>
      </p:sp>
      <p:graphicFrame>
        <p:nvGraphicFramePr>
          <p:cNvPr id="10" name=""/>
          <p:cNvGraphicFramePr/>
          <p:nvPr/>
        </p:nvGraphicFramePr>
        <p:xfrm>
          <a:off x="762000" y="2152650"/>
          <a:ext cx="10668000" cy="2686050"/>
        </p:xfrm>
        <a:graphic>
          <a:graphicData uri="http://schemas.openxmlformats.org/drawingml/2006/table">
            <a:tbl>
              <a:tblPr firstRow="0" bandRow="0"/>
              <a:tblGrid>
                <a:gridCol w="2667000"/>
                <a:gridCol w="8001000"/>
              </a:tblGrid>
              <a:tr h="671513">
                <a:tc>
                  <a:txBody>
                    <a:bodyPr lIns="171450" tIns="142875" rIns="171450" bIns="142875">
                      <a:noAutofit/>
                    </a:bodyPr>
                    <a:lstStyle/>
                    <a:p>
                      <a:pPr algn="ctr" rtl="1"/>
                      <a:r>
                        <a:rPr sz="1875" b="1" lang="ar-SA">
                          <a:solidFill>
                            <a:srgbClr val="FFFFFF"/>
                          </a:solidFill>
                          <a:latin typeface="Readex Pro"/>
                          <a:ea typeface="Readex Pro"/>
                          <a:cs typeface="Readex Pro"/>
                        </a:rPr>
                        <a:t>العدد</a:t>
                      </a:r>
                    </a:p>
                  </a:txBody>
                  <a:tcPr marL="91440" marR="91440" marT="45720" marB="45720" anchor="ctr">
                    <a:solidFill>
                      <a:srgbClr val="12183F"/>
                    </a:solidFill>
                  </a:tcPr>
                </a:tc>
                <a:tc>
                  <a:txBody>
                    <a:bodyPr lIns="171450" tIns="142875" rIns="171450" bIns="142875">
                      <a:noAutofit/>
                    </a:bodyPr>
                    <a:lstStyle/>
                    <a:p>
                      <a:pPr algn="r" rtl="1"/>
                      <a:r>
                        <a:rPr sz="1875" b="1" lang="ar-SA">
                          <a:solidFill>
                            <a:srgbClr val="FFFFFF"/>
                          </a:solidFill>
                          <a:latin typeface="Readex Pro"/>
                          <a:ea typeface="Readex Pro"/>
                          <a:cs typeface="Readex Pro"/>
                        </a:rPr>
                        <a:t>نتيجة مقارنة Jev بقاف</a:t>
                      </a:r>
                    </a:p>
                  </a:txBody>
                  <a:tcPr marL="91440" marR="91440" marT="45720" marB="45720" anchor="ctr">
                    <a:solidFill>
                      <a:srgbClr val="12183F"/>
                    </a:solidFill>
                  </a:tcPr>
                </a:tc>
              </a:tr>
              <a:tr h="671513">
                <a:tc>
                  <a:txBody>
                    <a:bodyPr lIns="171450" tIns="142875" rIns="171450" bIns="142875">
                      <a:noAutofit/>
                    </a:bodyPr>
                    <a:lstStyle/>
                    <a:p>
                      <a:pPr algn="ctr"/>
                      <a:r>
                        <a:rPr sz="2175" b="0">
                          <a:solidFill>
                            <a:srgbClr val="12183F"/>
                          </a:solidFill>
                          <a:latin typeface="Readex Pro"/>
                          <a:ea typeface="Readex Pro"/>
                          <a:cs typeface="Readex Pro"/>
                        </a:rPr>
                        <a:t>20</a:t>
                      </a:r>
                    </a:p>
                  </a:txBody>
                  <a:tcPr marL="91440" marR="91440" marT="45720" marB="45720" anchor="ctr">
                    <a:solidFill>
                      <a:srgbClr val="F2F4FF"/>
                    </a:solidFill>
                  </a:tcPr>
                </a:tc>
                <a:tc>
                  <a:txBody>
                    <a:bodyPr lIns="171450" tIns="142875" rIns="171450" bIns="142875">
                      <a:noAutofit/>
                    </a:bodyPr>
                    <a:lstStyle/>
                    <a:p>
                      <a:pPr algn="r" rtl="1"/>
                      <a:r>
                        <a:rPr sz="2175" b="0" lang="ar-SA">
                          <a:solidFill>
                            <a:srgbClr val="12183F"/>
                          </a:solidFill>
                          <a:latin typeface="Readex Pro"/>
                          <a:ea typeface="Readex Pro"/>
                          <a:cs typeface="Readex Pro"/>
                        </a:rPr>
                        <a:t>أفضل في الترتيبين</a:t>
                      </a:r>
                    </a:p>
                  </a:txBody>
                  <a:tcPr marL="91440" marR="91440" marT="45720" marB="45720" anchor="ctr">
                    <a:solidFill>
                      <a:srgbClr val="F2F4FF"/>
                    </a:solidFill>
                  </a:tcPr>
                </a:tc>
              </a:tr>
              <a:tr h="671513">
                <a:tc>
                  <a:txBody>
                    <a:bodyPr lIns="171450" tIns="142875" rIns="171450" bIns="142875">
                      <a:noAutofit/>
                    </a:bodyPr>
                    <a:lstStyle/>
                    <a:p>
                      <a:pPr algn="ctr"/>
                      <a:r>
                        <a:rPr sz="2175" b="0">
                          <a:solidFill>
                            <a:srgbClr val="12183F"/>
                          </a:solidFill>
                          <a:latin typeface="Readex Pro"/>
                          <a:ea typeface="Readex Pro"/>
                          <a:cs typeface="Readex Pro"/>
                        </a:rPr>
                        <a:t>16</a:t>
                      </a:r>
                    </a:p>
                  </a:txBody>
                  <a:tcPr marL="91440" marR="91440" marT="45720" marB="45720" anchor="ctr">
                    <a:solidFill>
                      <a:srgbClr val="F2F4FF"/>
                    </a:solidFill>
                  </a:tcPr>
                </a:tc>
                <a:tc>
                  <a:txBody>
                    <a:bodyPr lIns="171450" tIns="142875" rIns="171450" bIns="142875">
                      <a:noAutofit/>
                    </a:bodyPr>
                    <a:lstStyle/>
                    <a:p>
                      <a:pPr algn="r" rtl="1"/>
                      <a:r>
                        <a:rPr sz="2175" b="0" lang="ar-SA">
                          <a:solidFill>
                            <a:srgbClr val="12183F"/>
                          </a:solidFill>
                          <a:latin typeface="Readex Pro"/>
                          <a:ea typeface="Readex Pro"/>
                          <a:cs typeface="Readex Pro"/>
                        </a:rPr>
                        <a:t>أضعف في الترتيبين</a:t>
                      </a:r>
                    </a:p>
                  </a:txBody>
                  <a:tcPr marL="91440" marR="91440" marT="45720" marB="45720" anchor="ctr">
                    <a:solidFill>
                      <a:srgbClr val="F2F4FF"/>
                    </a:solidFill>
                  </a:tcPr>
                </a:tc>
              </a:tr>
              <a:tr h="671513">
                <a:tc>
                  <a:txBody>
                    <a:bodyPr lIns="171450" tIns="142875" rIns="171450" bIns="142875">
                      <a:noAutofit/>
                    </a:bodyPr>
                    <a:lstStyle/>
                    <a:p>
                      <a:pPr algn="ctr"/>
                      <a:r>
                        <a:rPr sz="2175" b="0">
                          <a:solidFill>
                            <a:srgbClr val="12183F"/>
                          </a:solidFill>
                          <a:latin typeface="Readex Pro"/>
                          <a:ea typeface="Readex Pro"/>
                          <a:cs typeface="Readex Pro"/>
                        </a:rPr>
                        <a:t>12</a:t>
                      </a:r>
                    </a:p>
                  </a:txBody>
                  <a:tcPr marL="91440" marR="91440" marT="45720" marB="45720" anchor="ctr">
                    <a:solidFill>
                      <a:srgbClr val="F2F4FF"/>
                    </a:solidFill>
                  </a:tcPr>
                </a:tc>
                <a:tc>
                  <a:txBody>
                    <a:bodyPr lIns="171450" tIns="142875" rIns="171450" bIns="142875">
                      <a:noAutofit/>
                    </a:bodyPr>
                    <a:lstStyle/>
                    <a:p>
                      <a:pPr algn="r" rtl="1"/>
                      <a:r>
                        <a:rPr sz="2175" b="0" lang="ar-SA">
                          <a:solidFill>
                            <a:srgbClr val="12183F"/>
                          </a:solidFill>
                          <a:latin typeface="Readex Pro"/>
                          <a:ea typeface="Readex Pro"/>
                          <a:cs typeface="Readex Pro"/>
                        </a:rPr>
                        <a:t>غير محسوم</a:t>
                      </a:r>
                    </a:p>
                  </a:txBody>
                  <a:tcPr marL="91440" marR="91440" marT="45720" marB="45720" anchor="ctr">
                    <a:solidFill>
                      <a:srgbClr val="F2F4FF"/>
                    </a:solidFill>
                  </a:tcPr>
                </a:tc>
              </a:tr>
            </a:tbl>
          </a:graphicData>
        </a:graphic>
      </p:graphicFrame>
      <p:sp>
        <p:nvSpPr>
          <p:cNvPr id="5" name="نسبة الفوز في الحالات المحسومة: ٥٥">
            <a:extLst>
              <a:ext uri="{FF2B5EF4-FFF2-40B4-BE49-F238E27FC236}">
                <ns2:creationId id="{362B6332-39A4-4919-9715-C076AACEC62C}"/>
              </a:ext>
            </a:extLst>
          </p:cNvPr>
          <p:cNvSpPr>
            <a:spLocks noGrp="1"/>
          </p:cNvSpPr>
          <p:nvPr/>
        </p:nvSpPr>
        <p:spPr>
          <a:xfrm>
            <a:off x="762000" y="5181600"/>
            <a:ext cx="10668000" cy="447675"/>
          </a:xfrm>
          <a:prstGeom prst="rect">
            <a:avLst/>
          </a:prstGeom>
          <a:noFill/>
          <a:ln w="0">
            <a:noFill/>
          </a:ln>
        </p:spPr>
        <p:txBody>
          <a:bodyPr wrap="none" lIns="0" tIns="0" rIns="0" bIns="0" anchor="t">
            <a:noAutofit/>
          </a:bodyPr>
          <a:lstStyle/>
          <a:p>
            <a:pPr algn="r" rtl="1">
              <a:defRPr sz="2250" b="1" lang="ar-SA">
                <a:solidFill>
                  <a:srgbClr val="6150EA"/>
                </a:solidFill>
                <a:latin typeface="Readex Pro"/>
                <a:ea typeface="Readex Pro"/>
                <a:cs typeface="Readex Pro"/>
              </a:defRPr>
            </a:pPr>
            <a:r>
              <a:rPr sz="2250" b="1" lang="ar-SA">
                <a:solidFill>
                  <a:srgbClr val="6150EA"/>
                </a:solidFill>
                <a:latin typeface="Readex Pro"/>
                <a:ea typeface="Readex Pro"/>
                <a:cs typeface="Readex Pro"/>
              </a:rPr>
              <a:t>نسبة الفوز في الحالات المحسومة: ٥٥٫٦٪</a:t>
            </a:r>
          </a:p>
        </p:txBody>
      </p:sp>
      <p:sp>
        <p:nvSpPr>
          <p:cNvPr id="6" name="فاصل ثقة ٩٥٪: من ٣٩٫٦٪ إلى ٧٠٫٥٪. ">
            <a:extLst>
              <a:ext uri="{FF2B5EF4-FFF2-40B4-BE49-F238E27FC236}">
                <ns2:creationId id="{2779A3A3-4695-4084-9513-076BD3953C11}"/>
              </a:ext>
            </a:extLst>
          </p:cNvPr>
          <p:cNvSpPr>
            <a:spLocks noGrp="1"/>
          </p:cNvSpPr>
          <p:nvPr/>
        </p:nvSpPr>
        <p:spPr>
          <a:xfrm>
            <a:off x="762000" y="5705475"/>
            <a:ext cx="10668000" cy="419100"/>
          </a:xfrm>
          <a:prstGeom prst="rect">
            <a:avLst/>
          </a:prstGeom>
          <a:noFill/>
          <a:ln w="0">
            <a:noFill/>
          </a:ln>
        </p:spPr>
        <p:txBody>
          <a:bodyPr wrap="none" lIns="0" tIns="0" rIns="0" bIns="0" anchor="t">
            <a:noAutofit/>
          </a:bodyPr>
          <a:lstStyle/>
          <a:p>
            <a:pPr algn="r" rtl="1">
              <a:defRPr sz="1875" b="0" lang="ar-SA">
                <a:solidFill>
                  <a:srgbClr val="343B5C"/>
                </a:solidFill>
                <a:latin typeface="Readex Pro"/>
                <a:ea typeface="Readex Pro"/>
                <a:cs typeface="Readex Pro"/>
              </a:defRPr>
            </a:pPr>
            <a:r>
              <a:rPr sz="1875" b="0" lang="ar-SA">
                <a:solidFill>
                  <a:srgbClr val="343B5C"/>
                </a:solidFill>
                <a:latin typeface="Readex Pro"/>
                <a:ea typeface="Readex Pro"/>
                <a:cs typeface="Readex Pro"/>
              </a:rPr>
              <a:t>فاصل ثقة ٩٥٪: من ٣٩٫٦٪ إلى ٧٠٫٥٪. لا تثبت هذه النتيجة تفوق الجودة.</a:t>
            </a:r>
          </a:p>
        </p:txBody>
      </p:sp>
    </p:spTree>
    <p:extLst>
      <p:ext uri="{BB962C8B-B14F-4D97-AF65-F5344CB8AC3E}">
        <ns3:creationId val="958352115"/>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2183F"/>
        </a:solidFill>
      </p:bgPr>
    </p:bg>
    <p:spTree>
      <p:nvGrpSpPr>
        <p:cNvPr id="1" name=""/>
        <p:cNvGrpSpPr/>
        <p:nvPr/>
      </p:nvGrpSpPr>
      <p:grpSpPr>
        <a:xfrm/>
      </p:grpSpPr>
      <p:sp>
        <p:nvSpPr>
          <p:cNvPr id="8" name="الاستناد وحدود السلامة">
            <a:extLst>
              <a:ext uri="{FF2B5EF4-FFF2-40B4-BE49-F238E27FC236}">
                <ns2:creationId id="{FDC209F1-8167-4194-9305-5E9065E0F912}"/>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FFFFFF"/>
                </a:solidFill>
                <a:latin typeface="Readex Pro"/>
                <a:ea typeface="Readex Pro"/>
                <a:cs typeface="Readex Pro"/>
              </a:defRPr>
            </a:pPr>
            <a:r>
              <a:rPr sz="3375" b="1" lang="ar-SA">
                <a:solidFill>
                  <a:srgbClr val="FFFFFF"/>
                </a:solidFill>
                <a:latin typeface="Readex Pro"/>
                <a:ea typeface="Readex Pro"/>
                <a:cs typeface="Readex Pro"/>
              </a:rPr>
              <a:t>الاستناد وحدود السلامة</a:t>
            </a:r>
          </a:p>
        </p:txBody>
      </p:sp>
      <p:sp>
        <p:nvSpPr>
          <p:cNvPr id="2" name="page">
            <a:extLst>
              <a:ext uri="{FF2B5EF4-FFF2-40B4-BE49-F238E27FC236}">
                <ns2:creationId id="{AE66CF75-55F7-498A-AD5E-7C2F22EE940A}"/>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BAC2DA"/>
                </a:solidFill>
                <a:latin typeface="Readex Pro"/>
                <a:ea typeface="Readex Pro"/>
                <a:cs typeface="Readex Pro"/>
              </a:defRPr>
            </a:pPr>
            <a:r>
              <a:rPr sz="1350" b="0">
                <a:solidFill>
                  <a:srgbClr val="BAC2DA"/>
                </a:solidFill>
                <a:latin typeface="Readex Pro"/>
                <a:ea typeface="Readex Pro"/>
                <a:cs typeface="Readex Pro"/>
              </a:rPr>
              <a:t>08</a:t>
            </a:r>
          </a:p>
        </p:txBody>
      </p:sp>
      <p:sp>
        <p:nvSpPr>
          <p:cNvPr id="3" name="٦ من ١٨ إجابة فيها خطأ جاد في كلا ">
            <a:extLst>
              <a:ext uri="{FF2B5EF4-FFF2-40B4-BE49-F238E27FC236}">
                <ns2:creationId id="{A1559ADB-05BD-40B1-8A6C-99332B288532}"/>
              </a:ext>
            </a:extLst>
          </p:cNvPr>
          <p:cNvSpPr>
            <a:spLocks noGrp="1"/>
          </p:cNvSpPr>
          <p:nvPr/>
        </p:nvSpPr>
        <p:spPr>
          <a:xfrm>
            <a:off x="762000" y="1609725"/>
            <a:ext cx="10668000" cy="619125"/>
          </a:xfrm>
          <a:prstGeom prst="rect">
            <a:avLst/>
          </a:prstGeom>
          <a:noFill/>
          <a:ln w="0">
            <a:noFill/>
          </a:ln>
        </p:spPr>
        <p:txBody>
          <a:bodyPr wrap="none" lIns="0" tIns="0" rIns="0" bIns="0" anchor="t">
            <a:noAutofit/>
          </a:bodyPr>
          <a:lstStyle/>
          <a:p>
            <a:pPr algn="r" rtl="1">
              <a:defRPr sz="2775" b="1" lang="ar-SA">
                <a:solidFill>
                  <a:srgbClr val="2EF2C2"/>
                </a:solidFill>
                <a:latin typeface="Readex Pro"/>
                <a:ea typeface="Readex Pro"/>
                <a:cs typeface="Readex Pro"/>
              </a:defRPr>
            </a:pPr>
            <a:r>
              <a:rPr sz="2775" b="1" lang="ar-SA">
                <a:solidFill>
                  <a:srgbClr val="2EF2C2"/>
                </a:solidFill>
                <a:latin typeface="Readex Pro"/>
                <a:ea typeface="Readex Pro"/>
                <a:cs typeface="Readex Pro"/>
              </a:rPr>
              <a:t>٦ من ١٨ إجابة فيها خطأ جاد في كلا الطرفين</a:t>
            </a:r>
          </a:p>
        </p:txBody>
      </p:sp>
      <p:sp>
        <p:nvSpPr>
          <p:cNvPr id="4" name="بقيت أخطاء في نسبة الأقوال وفهم ال">
            <a:extLst>
              <a:ext uri="{FF2B5EF4-FFF2-40B4-BE49-F238E27FC236}">
                <ns2:creationId id="{433018F4-BE70-4C75-8297-419585EE1A65}"/>
              </a:ext>
            </a:extLst>
          </p:cNvPr>
          <p:cNvSpPr>
            <a:spLocks noGrp="1"/>
          </p:cNvSpPr>
          <p:nvPr/>
        </p:nvSpPr>
        <p:spPr>
          <a:xfrm>
            <a:off x="762000" y="2543175"/>
            <a:ext cx="10668000" cy="514350"/>
          </a:xfrm>
          <a:prstGeom prst="rect">
            <a:avLst/>
          </a:prstGeom>
          <a:noFill/>
          <a:ln w="0">
            <a:noFill/>
          </a:ln>
        </p:spPr>
        <p:txBody>
          <a:bodyPr wrap="none" lIns="0" tIns="0" rIns="0" bIns="0" anchor="t">
            <a:noAutofit/>
          </a:bodyPr>
          <a:lstStyle/>
          <a:p>
            <a:pPr algn="r" rtl="1">
              <a:defRPr sz="2175" b="0" lang="ar-SA">
                <a:solidFill>
                  <a:srgbClr val="FFFFFF"/>
                </a:solidFill>
                <a:latin typeface="Readex Pro"/>
                <a:ea typeface="Readex Pro"/>
                <a:cs typeface="Readex Pro"/>
              </a:defRPr>
            </a:pPr>
            <a:r>
              <a:rPr sz="2175" b="0" lang="ar-SA">
                <a:solidFill>
                  <a:srgbClr val="FFFFFF"/>
                </a:solidFill>
                <a:latin typeface="Readex Pro"/>
                <a:ea typeface="Readex Pro"/>
                <a:cs typeface="Readex Pro"/>
              </a:rPr>
              <a:t>بقيت أخطاء في نسبة الأقوال وفهم الشواهد، رغم صحة معرّفاتها.</a:t>
            </a:r>
          </a:p>
        </p:txBody>
      </p:sp>
      <p:sp>
        <p:nvSpPr>
          <p:cNvPr id="5" name="معرّفات إحالات مختلقة: صفر من ٤٨ م">
            <a:extLst>
              <a:ext uri="{FF2B5EF4-FFF2-40B4-BE49-F238E27FC236}">
                <ns2:creationId id="{9A6C7551-0272-4D95-ACBF-ED78F3C28AF5}"/>
              </a:ext>
            </a:extLst>
          </p:cNvPr>
          <p:cNvSpPr>
            <a:spLocks noGrp="1"/>
          </p:cNvSpPr>
          <p:nvPr/>
        </p:nvSpPr>
        <p:spPr>
          <a:xfrm>
            <a:off x="762000" y="3543300"/>
            <a:ext cx="10668000" cy="533400"/>
          </a:xfrm>
          <a:prstGeom prst="rect">
            <a:avLst/>
          </a:prstGeom>
          <a:noFill/>
          <a:ln w="0">
            <a:noFill/>
          </a:ln>
        </p:spPr>
        <p:txBody>
          <a:bodyPr wrap="none" lIns="0" tIns="0" rIns="0" bIns="0" anchor="t">
            <a:noAutofit/>
          </a:bodyPr>
          <a:lstStyle/>
          <a:p>
            <a:pPr algn="r" rtl="1">
              <a:defRPr sz="2175" b="0" lang="ar-SA">
                <a:solidFill>
                  <a:srgbClr val="FFFFFF"/>
                </a:solidFill>
                <a:latin typeface="Readex Pro"/>
                <a:ea typeface="Readex Pro"/>
                <a:cs typeface="Readex Pro"/>
              </a:defRPr>
            </a:pPr>
            <a:r>
              <a:rPr sz="2175" b="0" lang="ar-SA">
                <a:solidFill>
                  <a:srgbClr val="FFFFFF"/>
                </a:solidFill>
                <a:latin typeface="Readex Pro"/>
                <a:ea typeface="Readex Pro"/>
                <a:cs typeface="Readex Pro"/>
              </a:rPr>
              <a:t>معرّفات إحالات مختلقة: صفر من ٤٨ مع Jev، مقابل ٤ من ٤٨ لقاف.</a:t>
            </a:r>
          </a:p>
        </p:txBody>
      </p:sp>
      <p:sp>
        <p:nvSpPr>
          <p:cNvPr id="6" name="هذا أثر الربط البرمجي، ولا يعني اخ">
            <a:extLst>
              <a:ext uri="{FF2B5EF4-FFF2-40B4-BE49-F238E27FC236}">
                <ns2:creationId id="{8BA7DF62-6D10-431F-A938-0899E65B904B}"/>
              </a:ext>
            </a:extLst>
          </p:cNvPr>
          <p:cNvSpPr>
            <a:spLocks noGrp="1"/>
          </p:cNvSpPr>
          <p:nvPr/>
        </p:nvSpPr>
        <p:spPr>
          <a:xfrm>
            <a:off x="762000" y="4114800"/>
            <a:ext cx="10668000" cy="476250"/>
          </a:xfrm>
          <a:prstGeom prst="rect">
            <a:avLst/>
          </a:prstGeom>
          <a:noFill/>
          <a:ln w="0">
            <a:noFill/>
          </a:ln>
        </p:spPr>
        <p:txBody>
          <a:bodyPr wrap="none" lIns="0" tIns="0" rIns="0" bIns="0" anchor="t">
            <a:noAutofit/>
          </a:bodyPr>
          <a:lstStyle/>
          <a:p>
            <a:pPr algn="r" rtl="1">
              <a:defRPr sz="2100" b="0" lang="ar-SA">
                <a:solidFill>
                  <a:srgbClr val="BAC2DA"/>
                </a:solidFill>
                <a:latin typeface="Readex Pro"/>
                <a:ea typeface="Readex Pro"/>
                <a:cs typeface="Readex Pro"/>
              </a:defRPr>
            </a:pPr>
            <a:r>
              <a:rPr sz="2100" b="0" lang="ar-SA">
                <a:solidFill>
                  <a:srgbClr val="BAC2DA"/>
                </a:solidFill>
                <a:latin typeface="Readex Pro"/>
                <a:ea typeface="Readex Pro"/>
                <a:cs typeface="Readex Pro"/>
              </a:rPr>
              <a:t>هذا أثر الربط البرمجي، ولا يعني اختفاء الأخطاء أو الهلوسة.</a:t>
            </a:r>
          </a:p>
        </p:txBody>
      </p:sp>
      <p:sp>
        <p:nvSpPr>
          <p:cNvPr id="7" name="التدقيق آلي. لم تثبت مراجعة علمية ">
            <a:extLst>
              <a:ext uri="{FF2B5EF4-FFF2-40B4-BE49-F238E27FC236}">
                <ns2:creationId id="{930B9668-DB64-4A6F-A49F-3D6DD42F651A}"/>
              </a:ext>
            </a:extLst>
          </p:cNvPr>
          <p:cNvSpPr>
            <a:spLocks noGrp="1"/>
          </p:cNvSpPr>
          <p:nvPr/>
        </p:nvSpPr>
        <p:spPr>
          <a:xfrm>
            <a:off x="762000" y="5219700"/>
            <a:ext cx="10668000" cy="600075"/>
          </a:xfrm>
          <a:prstGeom prst="rect">
            <a:avLst/>
          </a:prstGeom>
          <a:noFill/>
          <a:ln w="0">
            <a:noFill/>
          </a:ln>
        </p:spPr>
        <p:txBody>
          <a:bodyPr wrap="none" lIns="0" tIns="0" rIns="0" bIns="0" anchor="t">
            <a:noAutofit/>
          </a:bodyPr>
          <a:lstStyle/>
          <a:p>
            <a:pPr algn="r" rtl="1">
              <a:defRPr sz="2175" b="1" lang="ar-SA">
                <a:solidFill>
                  <a:srgbClr val="2EF2C2"/>
                </a:solidFill>
                <a:latin typeface="Readex Pro"/>
                <a:ea typeface="Readex Pro"/>
                <a:cs typeface="Readex Pro"/>
              </a:defRPr>
            </a:pPr>
            <a:r>
              <a:rPr sz="2175" b="1" lang="ar-SA">
                <a:solidFill>
                  <a:srgbClr val="2EF2C2"/>
                </a:solidFill>
                <a:latin typeface="Readex Pro"/>
                <a:ea typeface="Readex Pro"/>
                <a:cs typeface="Readex Pro"/>
              </a:rPr>
              <a:t>التدقيق آلي. لم تثبت مراجعة علمية بشرية أو صلاحية لإصدار الفتوى.</a:t>
            </a:r>
          </a:p>
        </p:txBody>
      </p:sp>
    </p:spTree>
    <p:extLst>
      <p:ext uri="{BB962C8B-B14F-4D97-AF65-F5344CB8AC3E}">
        <ns3:creationId val="492802264"/>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2F4FF"/>
        </a:solidFill>
      </p:bgPr>
    </p:bg>
    <p:spTree>
      <p:nvGrpSpPr>
        <p:cNvPr id="1" name=""/>
        <p:cNvGrpSpPr/>
        <p:nvPr/>
      </p:nvGrpSpPr>
      <p:grpSpPr>
        <a:xfrm/>
      </p:grpSpPr>
      <p:sp>
        <p:nvSpPr>
          <p:cNvPr id="9" name="العمل الجديد في ٦ أكتوبر">
            <a:extLst>
              <a:ext uri="{FF2B5EF4-FFF2-40B4-BE49-F238E27FC236}">
                <ns2:creationId id="{DDBBF0BA-B34F-447F-86F4-ED1536F82130}"/>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12183F"/>
                </a:solidFill>
                <a:latin typeface="Readex Pro"/>
                <a:ea typeface="Readex Pro"/>
                <a:cs typeface="Readex Pro"/>
              </a:defRPr>
            </a:pPr>
            <a:r>
              <a:rPr sz="3375" b="1" lang="ar-SA">
                <a:solidFill>
                  <a:srgbClr val="12183F"/>
                </a:solidFill>
                <a:latin typeface="Readex Pro"/>
                <a:ea typeface="Readex Pro"/>
                <a:cs typeface="Readex Pro"/>
              </a:rPr>
              <a:t>العمل الجديد في ٦ أكتوبر</a:t>
            </a:r>
          </a:p>
        </p:txBody>
      </p:sp>
      <p:sp>
        <p:nvSpPr>
          <p:cNvPr id="2" name="page">
            <a:extLst>
              <a:ext uri="{FF2B5EF4-FFF2-40B4-BE49-F238E27FC236}">
                <ns2:creationId id="{F5FDD337-609B-4274-A6BF-089E40C1D532}"/>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343B5C"/>
                </a:solidFill>
                <a:latin typeface="Readex Pro"/>
                <a:ea typeface="Readex Pro"/>
                <a:cs typeface="Readex Pro"/>
              </a:defRPr>
            </a:pPr>
            <a:r>
              <a:rPr sz="1350" b="0">
                <a:solidFill>
                  <a:srgbClr val="343B5C"/>
                </a:solidFill>
                <a:latin typeface="Readex Pro"/>
                <a:ea typeface="Readex Pro"/>
                <a:cs typeface="Readex Pro"/>
              </a:rPr>
              <a:t>09</a:t>
            </a:r>
          </a:p>
        </p:txBody>
      </p:sp>
      <p:sp>
        <p:nvSpPr>
          <p:cNvPr id="3" name="مرجع مفتوح وأمثلة تعليمية مستقلة">
            <a:extLst>
              <a:ext uri="{FF2B5EF4-FFF2-40B4-BE49-F238E27FC236}">
                <ns2:creationId id="{672A310B-2C21-4D0A-A0B8-CE148E27E836}"/>
              </a:ext>
            </a:extLst>
          </p:cNvPr>
          <p:cNvSpPr>
            <a:spLocks noGrp="1"/>
          </p:cNvSpPr>
          <p:nvPr/>
        </p:nvSpPr>
        <p:spPr>
          <a:xfrm>
            <a:off x="762000" y="1543050"/>
            <a:ext cx="10668000" cy="619125"/>
          </a:xfrm>
          <a:prstGeom prst="rect">
            <a:avLst/>
          </a:prstGeom>
          <a:noFill/>
          <a:ln w="0">
            <a:noFill/>
          </a:ln>
        </p:spPr>
        <p:txBody>
          <a:bodyPr wrap="none" lIns="0" tIns="0" rIns="0" bIns="0" anchor="t">
            <a:noAutofit/>
          </a:bodyPr>
          <a:lstStyle/>
          <a:p>
            <a:pPr algn="r" rtl="1">
              <a:defRPr sz="2700" b="1" lang="ar-SA">
                <a:solidFill>
                  <a:srgbClr val="6150EA"/>
                </a:solidFill>
                <a:latin typeface="Readex Pro"/>
                <a:ea typeface="Readex Pro"/>
                <a:cs typeface="Readex Pro"/>
              </a:defRPr>
            </a:pPr>
            <a:r>
              <a:rPr sz="2700" b="1" lang="ar-SA">
                <a:solidFill>
                  <a:srgbClr val="6150EA"/>
                </a:solidFill>
                <a:latin typeface="Readex Pro"/>
                <a:ea typeface="Readex Pro"/>
                <a:cs typeface="Readex Pro"/>
              </a:rPr>
              <a:t>مرجع مفتوح وأمثلة تعليمية مستقلة</a:t>
            </a:r>
          </a:p>
        </p:txBody>
      </p:sp>
      <p:sp>
        <p:nvSpPr>
          <p:cNvPr id="4" name="٦ مقاطع عربية مصطنعة عن منهجية الب">
            <a:extLst>
              <a:ext uri="{FF2B5EF4-FFF2-40B4-BE49-F238E27FC236}">
                <ns2:creationId id="{8FB59A11-35A7-483F-9BA3-D01D23186288}"/>
              </a:ext>
            </a:extLst>
          </p:cNvPr>
          <p:cNvSpPr>
            <a:spLocks noGrp="1"/>
          </p:cNvSpPr>
          <p:nvPr/>
        </p:nvSpPr>
        <p:spPr>
          <a:xfrm>
            <a:off x="762000" y="2457450"/>
            <a:ext cx="10668000" cy="476250"/>
          </a:xfrm>
          <a:prstGeom prst="rect">
            <a:avLst/>
          </a:prstGeom>
          <a:noFill/>
          <a:ln w="0">
            <a:noFill/>
          </a:ln>
        </p:spPr>
        <p:txBody>
          <a:bodyPr wrap="none" lIns="0" tIns="0" rIns="0" bIns="0" anchor="t">
            <a:noAutofit/>
          </a:bodyPr>
          <a:lstStyle/>
          <a:p>
            <a:pPr algn="r" rtl="1">
              <a:defRPr sz="2175" b="0" lang="ar-SA">
                <a:solidFill>
                  <a:srgbClr val="12183F"/>
                </a:solidFill>
                <a:latin typeface="Readex Pro"/>
                <a:ea typeface="Readex Pro"/>
                <a:cs typeface="Readex Pro"/>
              </a:defRPr>
            </a:pPr>
            <a:r>
              <a:rPr sz="2175" b="0" lang="ar-SA">
                <a:solidFill>
                  <a:srgbClr val="12183F"/>
                </a:solidFill>
                <a:latin typeface="Readex Pro"/>
                <a:ea typeface="Readex Pro"/>
                <a:cs typeface="Readex Pro"/>
              </a:rPr>
              <a:t>٦ مقاطع عربية مصطنعة عن منهجية البحث والاستشهاد.</a:t>
            </a:r>
          </a:p>
        </p:txBody>
      </p:sp>
      <p:sp>
        <p:nvSpPr>
          <p:cNvPr id="5" name="٤ حالات توضح الاقتباس وتعدد الأجزا">
            <a:extLst>
              <a:ext uri="{FF2B5EF4-FFF2-40B4-BE49-F238E27FC236}">
                <ns2:creationId id="{0C5E0F6D-522D-415B-8E50-19C8CECC076A}"/>
              </a:ext>
            </a:extLst>
          </p:cNvPr>
          <p:cNvSpPr>
            <a:spLocks noGrp="1"/>
          </p:cNvSpPr>
          <p:nvPr/>
        </p:nvSpPr>
        <p:spPr>
          <a:xfrm>
            <a:off x="762000" y="3219450"/>
            <a:ext cx="10668000" cy="476250"/>
          </a:xfrm>
          <a:prstGeom prst="rect">
            <a:avLst/>
          </a:prstGeom>
          <a:noFill/>
          <a:ln w="0">
            <a:noFill/>
          </a:ln>
        </p:spPr>
        <p:txBody>
          <a:bodyPr wrap="none" lIns="0" tIns="0" rIns="0" bIns="0" anchor="t">
            <a:noAutofit/>
          </a:bodyPr>
          <a:lstStyle/>
          <a:p>
            <a:pPr algn="r" rtl="1">
              <a:defRPr sz="2175" b="0" lang="ar-SA">
                <a:solidFill>
                  <a:srgbClr val="12183F"/>
                </a:solidFill>
                <a:latin typeface="Readex Pro"/>
                <a:ea typeface="Readex Pro"/>
                <a:cs typeface="Readex Pro"/>
              </a:defRPr>
            </a:pPr>
            <a:r>
              <a:rPr sz="2175" b="0" lang="ar-SA">
                <a:solidFill>
                  <a:srgbClr val="12183F"/>
                </a:solidFill>
                <a:latin typeface="Readex Pro"/>
                <a:ea typeface="Readex Pro"/>
                <a:cs typeface="Readex Pro"/>
              </a:rPr>
              <a:t>٤ حالات توضح الاقتباس وتعدد الأجزاء وقصور الدليل والامتناع.</a:t>
            </a:r>
          </a:p>
        </p:txBody>
      </p:sp>
      <p:sp>
        <p:nvSpPr>
          <p:cNvPr id="6" name="محاكاة تفاعلية حتمية معلنة، لا تست">
            <a:extLst>
              <a:ext uri="{FF2B5EF4-FFF2-40B4-BE49-F238E27FC236}">
                <ns2:creationId id="{B2BAE501-F0EF-4D6D-9E6D-ADC93DC17B2F}"/>
              </a:ext>
            </a:extLst>
          </p:cNvPr>
          <p:cNvSpPr>
            <a:spLocks noGrp="1"/>
          </p:cNvSpPr>
          <p:nvPr/>
        </p:nvSpPr>
        <p:spPr>
          <a:xfrm>
            <a:off x="762000" y="3981450"/>
            <a:ext cx="10668000" cy="476250"/>
          </a:xfrm>
          <a:prstGeom prst="rect">
            <a:avLst/>
          </a:prstGeom>
          <a:noFill/>
          <a:ln w="0">
            <a:noFill/>
          </a:ln>
        </p:spPr>
        <p:txBody>
          <a:bodyPr wrap="none" lIns="0" tIns="0" rIns="0" bIns="0" anchor="t">
            <a:noAutofit/>
          </a:bodyPr>
          <a:lstStyle/>
          <a:p>
            <a:pPr algn="r" rtl="1">
              <a:defRPr sz="2100" b="0" lang="ar-SA">
                <a:solidFill>
                  <a:srgbClr val="12183F"/>
                </a:solidFill>
                <a:latin typeface="Readex Pro"/>
                <a:ea typeface="Readex Pro"/>
                <a:cs typeface="Readex Pro"/>
              </a:defRPr>
            </a:pPr>
            <a:r>
              <a:rPr sz="2100" b="0" lang="ar-SA">
                <a:solidFill>
                  <a:srgbClr val="12183F"/>
                </a:solidFill>
                <a:latin typeface="Readex Pro"/>
                <a:ea typeface="Readex Pro"/>
                <a:cs typeface="Readex Pro"/>
              </a:rPr>
              <a:t>محاكاة تفاعلية حتمية معلنة، لا تستدعي Jev أو أي نموذج لغوي.</a:t>
            </a:r>
          </a:p>
        </p:txBody>
      </p:sp>
      <p:sp>
        <p:nvSpPr>
          <p:cNvPr id="7" name="فحص برمجي يرفض معرّفات الإحالات غي">
            <a:extLst>
              <a:ext uri="{FF2B5EF4-FFF2-40B4-BE49-F238E27FC236}">
                <ns2:creationId id="{AA938CD3-1DFE-4D41-8B8D-28C6F42A7C4C}"/>
              </a:ext>
            </a:extLst>
          </p:cNvPr>
          <p:cNvSpPr>
            <a:spLocks noGrp="1"/>
          </p:cNvSpPr>
          <p:nvPr/>
        </p:nvSpPr>
        <p:spPr>
          <a:xfrm>
            <a:off x="762000" y="4743450"/>
            <a:ext cx="10668000" cy="476250"/>
          </a:xfrm>
          <a:prstGeom prst="rect">
            <a:avLst/>
          </a:prstGeom>
          <a:noFill/>
          <a:ln w="0">
            <a:noFill/>
          </a:ln>
        </p:spPr>
        <p:txBody>
          <a:bodyPr wrap="none" lIns="0" tIns="0" rIns="0" bIns="0" anchor="t">
            <a:noAutofit/>
          </a:bodyPr>
          <a:lstStyle/>
          <a:p>
            <a:pPr algn="r" rtl="1">
              <a:defRPr sz="2100" b="0" lang="ar-SA">
                <a:solidFill>
                  <a:srgbClr val="12183F"/>
                </a:solidFill>
                <a:latin typeface="Readex Pro"/>
                <a:ea typeface="Readex Pro"/>
                <a:cs typeface="Readex Pro"/>
              </a:defRPr>
            </a:pPr>
            <a:r>
              <a:rPr sz="2100" b="0" lang="ar-SA">
                <a:solidFill>
                  <a:srgbClr val="12183F"/>
                </a:solidFill>
                <a:latin typeface="Readex Pro"/>
                <a:ea typeface="Readex Pro"/>
                <a:cs typeface="Readex Pro"/>
              </a:rPr>
              <a:t>فحص برمجي يرفض معرّفات الإحالات غير المعروفة في مجموعة الأدلة.</a:t>
            </a:r>
          </a:p>
        </p:txBody>
      </p:sp>
      <p:sp>
        <p:nvSpPr>
          <p:cNvPr id="8" name="١٢ اختبارًا ناجحًا للمنطق والعقد ا">
            <a:extLst>
              <a:ext uri="{FF2B5EF4-FFF2-40B4-BE49-F238E27FC236}">
                <ns2:creationId id="{2BFB667F-3B89-4DCE-AF65-A19F71ED5735}"/>
              </a:ext>
            </a:extLst>
          </p:cNvPr>
          <p:cNvSpPr>
            <a:spLocks noGrp="1"/>
          </p:cNvSpPr>
          <p:nvPr/>
        </p:nvSpPr>
        <p:spPr>
          <a:xfrm>
            <a:off x="762000" y="5676900"/>
            <a:ext cx="10668000" cy="419100"/>
          </a:xfrm>
          <a:prstGeom prst="rect">
            <a:avLst/>
          </a:prstGeom>
          <a:noFill/>
          <a:ln w="0">
            <a:noFill/>
          </a:ln>
        </p:spPr>
        <p:txBody>
          <a:bodyPr wrap="none" lIns="0" tIns="0" rIns="0" bIns="0" anchor="t">
            <a:noAutofit/>
          </a:bodyPr>
          <a:lstStyle/>
          <a:p>
            <a:pPr algn="r" rtl="1">
              <a:defRPr sz="1875" b="0" lang="ar-SA">
                <a:solidFill>
                  <a:srgbClr val="343B5C"/>
                </a:solidFill>
                <a:latin typeface="Readex Pro"/>
                <a:ea typeface="Readex Pro"/>
                <a:cs typeface="Readex Pro"/>
              </a:defRPr>
            </a:pPr>
            <a:r>
              <a:rPr sz="1875" b="0" lang="ar-SA">
                <a:solidFill>
                  <a:srgbClr val="343B5C"/>
                </a:solidFill>
                <a:latin typeface="Readex Pro"/>
                <a:ea typeface="Readex Pro"/>
                <a:cs typeface="Readex Pro"/>
              </a:rPr>
              <a:t>١٢ اختبارًا ناجحًا للمنطق والعقد البرمجي، دون اختبار جودة نموذج حي.</a:t>
            </a:r>
          </a:p>
        </p:txBody>
      </p:sp>
    </p:spTree>
    <p:extLst>
      <p:ext uri="{BB962C8B-B14F-4D97-AF65-F5344CB8AC3E}">
        <ns3:creationId val="1110624972"/>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2F4FF"/>
        </a:solidFill>
      </p:bgPr>
    </p:bg>
    <p:spTree>
      <p:nvGrpSpPr>
        <p:cNvPr id="1" name=""/>
        <p:cNvGrpSpPr/>
        <p:nvPr/>
      </p:nvGrpSpPr>
      <p:grpSpPr>
        <a:xfrm/>
      </p:grpSpPr>
      <p:sp>
        <p:nvSpPr>
          <p:cNvPr id="13" name="المشاركة ومصادر المراجعة">
            <a:extLst>
              <a:ext uri="{FF2B5EF4-FFF2-40B4-BE49-F238E27FC236}">
                <ns2:creationId id="{6AE30EE8-413E-4D94-81C5-12DA673BD5BA}"/>
              </a:ext>
            </a:extLst>
          </p:cNvPr>
          <p:cNvSpPr>
            <a:spLocks noGrp="1"/>
          </p:cNvSpPr>
          <p:nvPr/>
        </p:nvSpPr>
        <p:spPr>
          <a:xfrm>
            <a:off x="762000" y="476250"/>
            <a:ext cx="10668000" cy="819150"/>
          </a:xfrm>
          <a:prstGeom prst="rect">
            <a:avLst/>
          </a:prstGeom>
          <a:noFill/>
          <a:ln w="0">
            <a:noFill/>
          </a:ln>
        </p:spPr>
        <p:txBody>
          <a:bodyPr wrap="none" lIns="0" tIns="0" rIns="0" bIns="0" anchor="t">
            <a:noAutofit/>
          </a:bodyPr>
          <a:lstStyle/>
          <a:p>
            <a:pPr algn="r" rtl="1">
              <a:defRPr sz="3375" b="1" lang="ar-SA">
                <a:solidFill>
                  <a:srgbClr val="12183F"/>
                </a:solidFill>
                <a:latin typeface="Readex Pro"/>
                <a:ea typeface="Readex Pro"/>
                <a:cs typeface="Readex Pro"/>
              </a:defRPr>
            </a:pPr>
            <a:r>
              <a:rPr sz="3375" b="1" lang="ar-SA">
                <a:solidFill>
                  <a:srgbClr val="12183F"/>
                </a:solidFill>
                <a:latin typeface="Readex Pro"/>
                <a:ea typeface="Readex Pro"/>
                <a:cs typeface="Readex Pro"/>
              </a:rPr>
              <a:t>المشاركة ومصادر المراجعة</a:t>
            </a:r>
          </a:p>
        </p:txBody>
      </p:sp>
      <p:sp>
        <p:nvSpPr>
          <p:cNvPr id="2" name="page">
            <a:extLst>
              <a:ext uri="{FF2B5EF4-FFF2-40B4-BE49-F238E27FC236}">
                <ns2:creationId id="{391F3E9B-A3CD-4689-AB65-BD8D160126B9}"/>
              </a:ext>
            </a:extLst>
          </p:cNvPr>
          <p:cNvSpPr>
            <a:spLocks noGrp="1"/>
          </p:cNvSpPr>
          <p:nvPr/>
        </p:nvSpPr>
        <p:spPr>
          <a:xfrm>
            <a:off x="762000" y="6257925"/>
            <a:ext cx="666750" cy="266700"/>
          </a:xfrm>
          <a:prstGeom prst="rect">
            <a:avLst/>
          </a:prstGeom>
          <a:noFill/>
          <a:ln w="0">
            <a:noFill/>
          </a:ln>
        </p:spPr>
        <p:txBody>
          <a:bodyPr wrap="none" lIns="0" tIns="0" rIns="0" bIns="0" anchor="t">
            <a:noAutofit/>
          </a:bodyPr>
          <a:lstStyle/>
          <a:p>
            <a:pPr algn="l">
              <a:defRPr sz="1350" b="0">
                <a:solidFill>
                  <a:srgbClr val="343B5C"/>
                </a:solidFill>
                <a:latin typeface="Readex Pro"/>
                <a:ea typeface="Readex Pro"/>
                <a:cs typeface="Readex Pro"/>
              </a:defRPr>
            </a:pPr>
            <a:r>
              <a:rPr sz="1350" b="0">
                <a:solidFill>
                  <a:srgbClr val="343B5C"/>
                </a:solidFill>
                <a:latin typeface="Readex Pro"/>
                <a:ea typeface="Readex Pro"/>
                <a:cs typeface="Readex Pro"/>
              </a:rPr>
              <a:t>10</a:t>
            </a:r>
          </a:p>
        </p:txBody>
      </p:sp>
      <p:sp>
        <p:nvSpPr>
          <p:cNvPr id="3" name="عبد اللطيف عبد الفتاح">
            <a:extLst>
              <a:ext uri="{FF2B5EF4-FFF2-40B4-BE49-F238E27FC236}">
                <ns2:creationId id="{52F65EC6-A5E8-41EF-BB66-1D5D2395762A}"/>
              </a:ext>
            </a:extLst>
          </p:cNvPr>
          <p:cNvSpPr>
            <a:spLocks noGrp="1"/>
          </p:cNvSpPr>
          <p:nvPr/>
        </p:nvSpPr>
        <p:spPr>
          <a:xfrm>
            <a:off x="762000" y="1419225"/>
            <a:ext cx="10668000" cy="590550"/>
          </a:xfrm>
          <a:prstGeom prst="rect">
            <a:avLst/>
          </a:prstGeom>
          <a:noFill/>
          <a:ln w="0">
            <a:noFill/>
          </a:ln>
        </p:spPr>
        <p:txBody>
          <a:bodyPr wrap="none" lIns="0" tIns="0" rIns="0" bIns="0" anchor="t">
            <a:noAutofit/>
          </a:bodyPr>
          <a:lstStyle/>
          <a:p>
            <a:pPr algn="r" rtl="1">
              <a:defRPr sz="3000" b="1" lang="ar-SA">
                <a:solidFill>
                  <a:srgbClr val="6150EA"/>
                </a:solidFill>
                <a:latin typeface="Readex Pro"/>
                <a:ea typeface="Readex Pro"/>
                <a:cs typeface="Readex Pro"/>
              </a:defRPr>
            </a:pPr>
            <a:r>
              <a:rPr sz="3000" b="1" lang="ar-SA">
                <a:solidFill>
                  <a:srgbClr val="6150EA"/>
                </a:solidFill>
                <a:latin typeface="Readex Pro"/>
                <a:ea typeface="Readex Pro"/>
                <a:cs typeface="Readex Pro"/>
              </a:rPr>
              <a:t>عبد اللطيف عبد الفتاح</a:t>
            </a:r>
          </a:p>
        </p:txBody>
      </p:sp>
      <p:sp>
        <p:nvSpPr>
          <p:cNvPr id="4" name="Abdellatif Abdelfattah">
            <a:extLst>
              <a:ext uri="{FF2B5EF4-FFF2-40B4-BE49-F238E27FC236}">
                <ns2:creationId id="{B6434485-2B26-47B6-8238-57B4727A8B45}"/>
              </a:ext>
            </a:extLst>
          </p:cNvPr>
          <p:cNvSpPr>
            <a:spLocks noGrp="1"/>
          </p:cNvSpPr>
          <p:nvPr/>
        </p:nvSpPr>
        <p:spPr>
          <a:xfrm>
            <a:off x="762000" y="2057400"/>
            <a:ext cx="10668000" cy="419100"/>
          </a:xfrm>
          <a:prstGeom prst="rect">
            <a:avLst/>
          </a:prstGeom>
          <a:noFill/>
          <a:ln w="0">
            <a:noFill/>
          </a:ln>
        </p:spPr>
        <p:txBody>
          <a:bodyPr wrap="none" lIns="0" tIns="0" rIns="0" bIns="0" anchor="t">
            <a:noAutofit/>
          </a:bodyPr>
          <a:lstStyle/>
          <a:p>
            <a:pPr algn="r">
              <a:defRPr sz="1875" b="0">
                <a:solidFill>
                  <a:srgbClr val="343B5C"/>
                </a:solidFill>
                <a:latin typeface="Readex Pro"/>
                <a:ea typeface="Readex Pro"/>
                <a:cs typeface="Readex Pro"/>
              </a:defRPr>
            </a:pPr>
            <a:r>
              <a:rPr sz="1875" b="0">
                <a:solidFill>
                  <a:srgbClr val="343B5C"/>
                </a:solidFill>
                <a:latin typeface="Readex Pro"/>
                <a:ea typeface="Readex Pro"/>
                <a:cs typeface="Readex Pro"/>
              </a:rPr>
              <a:t>Abdellatif Abdelfattah</a:t>
            </a:r>
          </a:p>
        </p:txBody>
      </p:sp>
      <p:sp>
        <p:nvSpPr>
          <p:cNvPr id="5" name="المرجع المفتوح وواجهة المراجعة">
            <a:extLst>
              <a:ext uri="{FF2B5EF4-FFF2-40B4-BE49-F238E27FC236}">
                <ns2:creationId id="{6E53944B-CA5B-434B-A3D0-530D6EB57B26}"/>
              </a:ext>
            </a:extLst>
          </p:cNvPr>
          <p:cNvSpPr>
            <a:spLocks noGrp="1"/>
          </p:cNvSpPr>
          <p:nvPr/>
        </p:nvSpPr>
        <p:spPr>
          <a:xfrm>
            <a:off x="762000" y="2771775"/>
            <a:ext cx="10668000" cy="400050"/>
          </a:xfrm>
          <a:prstGeom prst="rect">
            <a:avLst/>
          </a:prstGeom>
          <a:noFill/>
          <a:ln w="0">
            <a:noFill/>
          </a:ln>
        </p:spPr>
        <p:txBody>
          <a:bodyPr wrap="none" lIns="0" tIns="0" rIns="0" bIns="0" anchor="t">
            <a:noAutofit/>
          </a:bodyPr>
          <a:lstStyle/>
          <a:p>
            <a:pPr algn="r" rtl="1">
              <a:defRPr sz="2100" b="1" lang="ar-SA">
                <a:solidFill>
                  <a:srgbClr val="12183F"/>
                </a:solidFill>
                <a:latin typeface="Readex Pro"/>
                <a:ea typeface="Readex Pro"/>
                <a:cs typeface="Readex Pro"/>
              </a:defRPr>
            </a:pPr>
            <a:r>
              <a:rPr sz="2100" b="1" lang="ar-SA">
                <a:solidFill>
                  <a:srgbClr val="12183F"/>
                </a:solidFill>
                <a:latin typeface="Readex Pro"/>
                <a:ea typeface="Readex Pro"/>
                <a:cs typeface="Readex Pro"/>
              </a:rPr>
              <a:t>المرجع المفتوح وواجهة المراجعة</a:t>
            </a:r>
          </a:p>
        </p:txBody>
      </p:sp>
      <p:sp>
        <p:nvSpPr>
          <p:cNvPr id="6" name="https://github.com/tifa2UP/qaf-jev">
            <a:extLst>
              <a:ext uri="{FF2B5EF4-FFF2-40B4-BE49-F238E27FC236}">
                <ns2:creationId id="{1EDCC963-71BC-481C-99BA-E0E879EBD366}"/>
              </a:ext>
            </a:extLst>
          </p:cNvPr>
          <p:cNvSpPr>
            <a:spLocks noGrp="1"/>
          </p:cNvSpPr>
          <p:nvPr/>
        </p:nvSpPr>
        <p:spPr>
          <a:xfrm>
            <a:off x="762000" y="3248025"/>
            <a:ext cx="10668000" cy="381000"/>
          </a:xfrm>
          <a:prstGeom prst="rect">
            <a:avLst/>
          </a:prstGeom>
          <a:noFill/>
          <a:ln w="0">
            <a:noFill/>
          </a:ln>
        </p:spPr>
        <p:txBody>
          <a:bodyPr wrap="none" lIns="0" tIns="0" rIns="0" bIns="0" anchor="t">
            <a:noAutofit/>
          </a:bodyPr>
          <a:lstStyle/>
          <a:p>
            <a:pPr algn="r">
              <a:defRPr sz="1800" b="0">
                <a:solidFill>
                  <a:srgbClr val="6150EA"/>
                </a:solidFill>
                <a:latin typeface="Readex Pro"/>
                <a:ea typeface="Readex Pro"/>
                <a:cs typeface="Readex Pro"/>
              </a:defRPr>
            </a:pPr>
            <a:r>
              <a:rPr sz="1800" b="0">
                <a:solidFill>
                  <a:srgbClr val="6150EA"/>
                </a:solidFill>
                <a:latin typeface="Readex Pro"/>
                <a:ea typeface="Readex Pro"/>
                <a:cs typeface="Readex Pro"/>
                <a:hlinkClick ns3:id="R9dad3709f6d84154"/>
              </a:rPr>
              <a:t>https://github.com/tifa2UP/qaf-jev-challenge</a:t>
            </a:r>
          </a:p>
        </p:txBody>
      </p:sp>
      <p:sp>
        <p:nvSpPr>
          <p:cNvPr id="7" name="https://tifa2up.github.io/qaf-jev-">
            <a:extLst>
              <a:ext uri="{FF2B5EF4-FFF2-40B4-BE49-F238E27FC236}">
                <ns2:creationId id="{CEFF4359-05E8-43C2-BD02-4B1655659127}"/>
              </a:ext>
            </a:extLst>
          </p:cNvPr>
          <p:cNvSpPr>
            <a:spLocks noGrp="1"/>
          </p:cNvSpPr>
          <p:nvPr/>
        </p:nvSpPr>
        <p:spPr>
          <a:xfrm>
            <a:off x="762000" y="3676650"/>
            <a:ext cx="10668000" cy="381000"/>
          </a:xfrm>
          <a:prstGeom prst="rect">
            <a:avLst/>
          </a:prstGeom>
          <a:noFill/>
          <a:ln w="0">
            <a:noFill/>
          </a:ln>
        </p:spPr>
        <p:txBody>
          <a:bodyPr wrap="none" lIns="0" tIns="0" rIns="0" bIns="0" anchor="t">
            <a:noAutofit/>
          </a:bodyPr>
          <a:lstStyle/>
          <a:p>
            <a:pPr algn="r">
              <a:defRPr sz="1800" b="0">
                <a:solidFill>
                  <a:srgbClr val="6150EA"/>
                </a:solidFill>
                <a:latin typeface="Readex Pro"/>
                <a:ea typeface="Readex Pro"/>
                <a:cs typeface="Readex Pro"/>
              </a:defRPr>
            </a:pPr>
            <a:r>
              <a:rPr sz="1800" b="0">
                <a:solidFill>
                  <a:srgbClr val="6150EA"/>
                </a:solidFill>
                <a:latin typeface="Readex Pro"/>
                <a:ea typeface="Readex Pro"/>
                <a:cs typeface="Readex Pro"/>
                <a:hlinkClick ns3:id="Raed3fdb07c72446e"/>
              </a:rPr>
              <a:t>https://tifa2up.github.io/qaf-jev-challenge/</a:t>
            </a:r>
          </a:p>
        </p:txBody>
      </p:sp>
      <p:sp>
        <p:nvSpPr>
          <p:cNvPr id="8" name="قاف القائم">
            <a:extLst>
              <a:ext uri="{FF2B5EF4-FFF2-40B4-BE49-F238E27FC236}">
                <ns2:creationId id="{B864F894-F8B4-4566-AE12-AF75AD4514A9}"/>
              </a:ext>
            </a:extLst>
          </p:cNvPr>
          <p:cNvSpPr>
            <a:spLocks noGrp="1"/>
          </p:cNvSpPr>
          <p:nvPr/>
        </p:nvSpPr>
        <p:spPr>
          <a:xfrm>
            <a:off x="7524750" y="4276725"/>
            <a:ext cx="3905250" cy="400050"/>
          </a:xfrm>
          <a:prstGeom prst="rect">
            <a:avLst/>
          </a:prstGeom>
          <a:noFill/>
          <a:ln w="0">
            <a:noFill/>
          </a:ln>
        </p:spPr>
        <p:txBody>
          <a:bodyPr wrap="none" lIns="0" tIns="0" rIns="0" bIns="0" anchor="t">
            <a:noAutofit/>
          </a:bodyPr>
          <a:lstStyle/>
          <a:p>
            <a:pPr algn="r" rtl="1">
              <a:defRPr sz="1950" b="1" lang="ar-SA">
                <a:solidFill>
                  <a:srgbClr val="12183F"/>
                </a:solidFill>
                <a:latin typeface="Readex Pro"/>
                <a:ea typeface="Readex Pro"/>
                <a:cs typeface="Readex Pro"/>
              </a:defRPr>
            </a:pPr>
            <a:r>
              <a:rPr sz="1950" b="1" lang="ar-SA">
                <a:solidFill>
                  <a:srgbClr val="12183F"/>
                </a:solidFill>
                <a:latin typeface="Readex Pro"/>
                <a:ea typeface="Readex Pro"/>
                <a:cs typeface="Readex Pro"/>
              </a:rPr>
              <a:t>قاف القائم</a:t>
            </a:r>
          </a:p>
        </p:txBody>
      </p:sp>
      <p:sp>
        <p:nvSpPr>
          <p:cNvPr id="9" name="https://qaf.ai">
            <a:extLst>
              <a:ext uri="{FF2B5EF4-FFF2-40B4-BE49-F238E27FC236}">
                <ns2:creationId id="{5F71D8C3-45F4-48FE-B5D3-8536E4FC5ED6}"/>
              </a:ext>
            </a:extLst>
          </p:cNvPr>
          <p:cNvSpPr>
            <a:spLocks noGrp="1"/>
          </p:cNvSpPr>
          <p:nvPr/>
        </p:nvSpPr>
        <p:spPr>
          <a:xfrm>
            <a:off x="762000" y="4276725"/>
            <a:ext cx="6191250" cy="400050"/>
          </a:xfrm>
          <a:prstGeom prst="rect">
            <a:avLst/>
          </a:prstGeom>
          <a:noFill/>
          <a:ln w="0">
            <a:noFill/>
          </a:ln>
        </p:spPr>
        <p:txBody>
          <a:bodyPr wrap="none" lIns="0" tIns="0" rIns="0" bIns="0" anchor="t">
            <a:noAutofit/>
          </a:bodyPr>
          <a:lstStyle/>
          <a:p>
            <a:pPr algn="r">
              <a:defRPr sz="1800" b="0">
                <a:solidFill>
                  <a:srgbClr val="6150EA"/>
                </a:solidFill>
                <a:latin typeface="Readex Pro"/>
                <a:ea typeface="Readex Pro"/>
                <a:cs typeface="Readex Pro"/>
              </a:defRPr>
            </a:pPr>
            <a:r>
              <a:rPr sz="1800" b="0">
                <a:solidFill>
                  <a:srgbClr val="6150EA"/>
                </a:solidFill>
                <a:latin typeface="Readex Pro"/>
                <a:ea typeface="Readex Pro"/>
                <a:cs typeface="Readex Pro"/>
                <a:hlinkClick ns3:id="R365e5cb71b9c47f8"/>
              </a:rPr>
              <a:t>https://qaf.ai</a:t>
            </a:r>
          </a:p>
        </p:txBody>
      </p:sp>
      <p:sp>
        <p:nvSpPr>
          <p:cNvPr id="10" name="الدراسة المرجعية: ١٧ سبتمبر ٢٠٢٦">
            <a:extLst>
              <a:ext uri="{FF2B5EF4-FFF2-40B4-BE49-F238E27FC236}">
                <ns2:creationId id="{9A8C484B-FB64-4492-8419-DE527FF86149}"/>
              </a:ext>
            </a:extLst>
          </p:cNvPr>
          <p:cNvSpPr>
            <a:spLocks noGrp="1"/>
          </p:cNvSpPr>
          <p:nvPr/>
        </p:nvSpPr>
        <p:spPr>
          <a:xfrm>
            <a:off x="762000" y="4895850"/>
            <a:ext cx="10668000" cy="400050"/>
          </a:xfrm>
          <a:prstGeom prst="rect">
            <a:avLst/>
          </a:prstGeom>
          <a:noFill/>
          <a:ln w="0">
            <a:noFill/>
          </a:ln>
        </p:spPr>
        <p:txBody>
          <a:bodyPr wrap="none" lIns="0" tIns="0" rIns="0" bIns="0" anchor="t">
            <a:noAutofit/>
          </a:bodyPr>
          <a:lstStyle/>
          <a:p>
            <a:pPr algn="r" rtl="1">
              <a:defRPr sz="1950" b="1" lang="ar-SA">
                <a:solidFill>
                  <a:srgbClr val="12183F"/>
                </a:solidFill>
                <a:latin typeface="Readex Pro"/>
                <a:ea typeface="Readex Pro"/>
                <a:cs typeface="Readex Pro"/>
              </a:defRPr>
            </a:pPr>
            <a:r>
              <a:rPr sz="1950" b="1" lang="ar-SA">
                <a:solidFill>
                  <a:srgbClr val="12183F"/>
                </a:solidFill>
                <a:latin typeface="Readex Pro"/>
                <a:ea typeface="Readex Pro"/>
                <a:cs typeface="Readex Pro"/>
              </a:rPr>
              <a:t>الدراسة المرجعية: ١٧ سبتمبر ٢٠٢٦</a:t>
            </a:r>
          </a:p>
        </p:txBody>
      </p:sp>
      <p:sp>
        <p:nvSpPr>
          <p:cNvPr id="11" name="https://qaf-jev-v4-vs-prod.pages.d">
            <a:extLst>
              <a:ext uri="{FF2B5EF4-FFF2-40B4-BE49-F238E27FC236}">
                <ns2:creationId id="{FF4A026E-2CC9-49FA-8BB6-6C9E822C9785}"/>
              </a:ext>
            </a:extLst>
          </p:cNvPr>
          <p:cNvSpPr>
            <a:spLocks noGrp="1"/>
          </p:cNvSpPr>
          <p:nvPr/>
        </p:nvSpPr>
        <p:spPr>
          <a:xfrm>
            <a:off x="762000" y="5334000"/>
            <a:ext cx="10668000" cy="400050"/>
          </a:xfrm>
          <a:prstGeom prst="rect">
            <a:avLst/>
          </a:prstGeom>
          <a:noFill/>
          <a:ln w="0">
            <a:noFill/>
          </a:ln>
        </p:spPr>
        <p:txBody>
          <a:bodyPr wrap="none" lIns="0" tIns="0" rIns="0" bIns="0" anchor="t">
            <a:noAutofit/>
          </a:bodyPr>
          <a:lstStyle/>
          <a:p>
            <a:pPr algn="r">
              <a:defRPr sz="1725" b="0">
                <a:solidFill>
                  <a:srgbClr val="6150EA"/>
                </a:solidFill>
                <a:latin typeface="Readex Pro"/>
                <a:ea typeface="Readex Pro"/>
                <a:cs typeface="Readex Pro"/>
              </a:defRPr>
            </a:pPr>
            <a:r>
              <a:rPr sz="1725" b="0">
                <a:solidFill>
                  <a:srgbClr val="6150EA"/>
                </a:solidFill>
                <a:latin typeface="Readex Pro"/>
                <a:ea typeface="Readex Pro"/>
                <a:cs typeface="Readex Pro"/>
                <a:hlinkClick ns3:id="R178089a4c0944bf5"/>
              </a:rPr>
              <a:t>https://qaf-jev-v4-vs-prod.pages.dev/</a:t>
            </a:r>
          </a:p>
        </p:txBody>
      </p:sp>
      <p:sp>
        <p:nvSpPr>
          <p:cNvPr id="12" name="المرجع الجديد يشرح الفكرة، ولا يمث">
            <a:extLst>
              <a:ext uri="{FF2B5EF4-FFF2-40B4-BE49-F238E27FC236}">
                <ns2:creationId id="{D1104454-9A09-4057-835C-A431D659B461}"/>
              </a:ext>
            </a:extLst>
          </p:cNvPr>
          <p:cNvSpPr>
            <a:spLocks noGrp="1"/>
          </p:cNvSpPr>
          <p:nvPr/>
        </p:nvSpPr>
        <p:spPr>
          <a:xfrm>
            <a:off x="762000" y="5867400"/>
            <a:ext cx="10668000" cy="371475"/>
          </a:xfrm>
          <a:prstGeom prst="rect">
            <a:avLst/>
          </a:prstGeom>
          <a:noFill/>
          <a:ln w="0">
            <a:noFill/>
          </a:ln>
        </p:spPr>
        <p:txBody>
          <a:bodyPr wrap="none" lIns="0" tIns="0" rIns="0" bIns="0" anchor="t">
            <a:noAutofit/>
          </a:bodyPr>
          <a:lstStyle/>
          <a:p>
            <a:pPr algn="r" rtl="1">
              <a:defRPr sz="1800" b="0" lang="ar-SA">
                <a:solidFill>
                  <a:srgbClr val="343B5C"/>
                </a:solidFill>
                <a:latin typeface="Readex Pro"/>
                <a:ea typeface="Readex Pro"/>
                <a:cs typeface="Readex Pro"/>
              </a:defRPr>
            </a:pPr>
            <a:r>
              <a:rPr sz="1800" b="0" lang="ar-SA">
                <a:solidFill>
                  <a:srgbClr val="343B5C"/>
                </a:solidFill>
                <a:latin typeface="Readex Pro"/>
                <a:ea typeface="Readex Pro"/>
                <a:cs typeface="Readex Pro"/>
              </a:rPr>
              <a:t>المرجع الجديد يشرح الفكرة، ولا يمثل نشر إعداد v4 على قاف.</a:t>
            </a:r>
          </a:p>
        </p:txBody>
      </p:sp>
    </p:spTree>
    <p:extLst>
      <p:ext uri="{BB962C8B-B14F-4D97-AF65-F5344CB8AC3E}">
        <ns4:creationId val="1775139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2026-10-06T14:00:40.4450000Z</dcterms:created>
  <dcterms:modified xsi:type="dcterms:W3CDTF">2026-10-06T14:00:40.4450000Z</dcterms:modified>
</coreProperties>
</file>